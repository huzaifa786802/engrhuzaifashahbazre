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32" autoAdjust="0"/>
    <p:restoredTop sz="94660"/>
  </p:normalViewPr>
  <p:slideViewPr>
    <p:cSldViewPr>
      <p:cViewPr varScale="1">
        <p:scale>
          <a:sx n="69" d="100"/>
          <a:sy n="69" d="100"/>
        </p:scale>
        <p:origin x="-145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CCD5E9-A4CC-47D7-9476-DF789A414716}" type="datetimeFigureOut">
              <a:rPr lang="en-US" smtClean="0"/>
              <a:t>2/5/2021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772B34-6E86-4878-8993-0475BADFDBE8}" type="slidenum">
              <a:rPr lang="en-US" smtClean="0"/>
              <a:t>‹#›</a:t>
            </a:fld>
            <a:endParaRPr lang="en-US"/>
          </a:p>
        </p:txBody>
      </p:sp>
    </p:spTree>
    <p:extLst>
      <p:ext uri="{BB962C8B-B14F-4D97-AF65-F5344CB8AC3E}">
        <p14:creationId xmlns:p14="http://schemas.microsoft.com/office/powerpoint/2010/main" val="242773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772B34-6E86-4878-8993-0475BADFDBE8}" type="slidenum">
              <a:rPr lang="en-US" smtClean="0"/>
              <a:t>2</a:t>
            </a:fld>
            <a:endParaRPr lang="en-US"/>
          </a:p>
        </p:txBody>
      </p:sp>
    </p:spTree>
    <p:extLst>
      <p:ext uri="{BB962C8B-B14F-4D97-AF65-F5344CB8AC3E}">
        <p14:creationId xmlns:p14="http://schemas.microsoft.com/office/powerpoint/2010/main" val="28321968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64AC78F7-A64A-4365-9280-0AC31FA1CD9B}" type="datetime1">
              <a:rPr lang="en-US" smtClean="0"/>
              <a:t>2/5/2021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81DF0707-73A5-4813-A3C2-5B4AAEF6BD4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8A9D5CE-8416-4DF1-9E79-FD3AE2F7A014}" type="datetime1">
              <a:rPr lang="en-US" smtClean="0"/>
              <a:t>2/5/2021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1DF0707-73A5-4813-A3C2-5B4AAEF6BD4A}"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6CE0318-353B-4674-97A5-80BD5666C9E9}" type="datetime1">
              <a:rPr lang="en-US" smtClean="0"/>
              <a:t>2/5/2021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1DF0707-73A5-4813-A3C2-5B4AAEF6BD4A}"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9D3DD74-69DF-465B-99DF-3C0939741690}" type="datetime1">
              <a:rPr lang="en-US" smtClean="0"/>
              <a:t>2/5/2021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1DF0707-73A5-4813-A3C2-5B4AAEF6BD4A}"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09EFAF7-C92A-4019-B28A-1AA2C5C1D8EC}" type="datetime1">
              <a:rPr lang="en-US" smtClean="0"/>
              <a:t>2/5/2021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81DF0707-73A5-4813-A3C2-5B4AAEF6BD4A}"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D0E71605-47E6-46F9-9B0D-A54DB4CECFC6}" type="datetime1">
              <a:rPr lang="en-US" smtClean="0"/>
              <a:t>2/5/2021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81DF0707-73A5-4813-A3C2-5B4AAEF6BD4A}"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B310446-F841-4718-984A-5C828EDC057E}" type="datetime1">
              <a:rPr lang="en-US" smtClean="0"/>
              <a:t>2/5/2021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81DF0707-73A5-4813-A3C2-5B4AAEF6BD4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EAD79B77-1E5D-468B-AAEF-4915C8F8E4FD}" type="datetime1">
              <a:rPr lang="en-US" smtClean="0"/>
              <a:t>2/5/2021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1DF0707-73A5-4813-A3C2-5B4AAEF6BD4A}"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7796BCFD-B636-4F04-A356-21ECA688ED04}" type="datetime1">
              <a:rPr lang="en-US" smtClean="0"/>
              <a:t>2/5/2021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81DF0707-73A5-4813-A3C2-5B4AAEF6BD4A}"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46D9AC4-C228-4459-9CB3-455786A6C8EC}" type="datetime1">
              <a:rPr lang="en-US" smtClean="0"/>
              <a:t>2/5/2021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1DF0707-73A5-4813-A3C2-5B4AAEF6BD4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42632AA-8875-4E04-BB87-D96C0D748816}" type="datetime1">
              <a:rPr lang="en-US" smtClean="0"/>
              <a:t>2/5/2021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1DF0707-73A5-4813-A3C2-5B4AAEF6BD4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61F4CDB1-C456-47D4-BF79-22DBAB378FFF}" type="datetime1">
              <a:rPr lang="en-US" smtClean="0"/>
              <a:t>2/5/2021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1DF0707-73A5-4813-A3C2-5B4AAEF6BD4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wav"/><Relationship Id="rId1" Type="http://schemas.microsoft.com/office/2007/relationships/media" Target="../media/media2.wav"/><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5.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wav"/><Relationship Id="rId1" Type="http://schemas.microsoft.com/office/2007/relationships/media" Target="../media/media4.wav"/><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wav"/><Relationship Id="rId1" Type="http://schemas.microsoft.com/office/2007/relationships/media" Target="../media/media5.wav"/><Relationship Id="rId6" Type="http://schemas.openxmlformats.org/officeDocument/2006/relationships/image" Target="../media/image4.png"/><Relationship Id="rId5" Type="http://schemas.openxmlformats.org/officeDocument/2006/relationships/image" Target="../media/image6.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wav"/><Relationship Id="rId1" Type="http://schemas.microsoft.com/office/2007/relationships/media" Target="../media/media6.wav"/><Relationship Id="rId5" Type="http://schemas.openxmlformats.org/officeDocument/2006/relationships/image" Target="../media/image4.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wav"/><Relationship Id="rId1" Type="http://schemas.microsoft.com/office/2007/relationships/media" Target="../media/media7.wav"/><Relationship Id="rId5"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microsoft.com/office/2007/relationships/media" Target="../media/media9.wav"/><Relationship Id="rId7" Type="http://schemas.openxmlformats.org/officeDocument/2006/relationships/image" Target="../media/image4.png"/><Relationship Id="rId2" Type="http://schemas.openxmlformats.org/officeDocument/2006/relationships/audio" Target="../media/media8.wav"/><Relationship Id="rId1" Type="http://schemas.microsoft.com/office/2007/relationships/media" Target="../media/media8.wav"/><Relationship Id="rId6" Type="http://schemas.openxmlformats.org/officeDocument/2006/relationships/image" Target="../media/image7.png"/><Relationship Id="rId5" Type="http://schemas.openxmlformats.org/officeDocument/2006/relationships/slideLayout" Target="../slideLayouts/slideLayout2.xml"/><Relationship Id="rId4" Type="http://schemas.openxmlformats.org/officeDocument/2006/relationships/audio" Target="../media/media9.wav"/></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wav"/><Relationship Id="rId1" Type="http://schemas.microsoft.com/office/2007/relationships/media" Target="../media/media10.wav"/><Relationship Id="rId6" Type="http://schemas.openxmlformats.org/officeDocument/2006/relationships/image" Target="../media/image4.png"/><Relationship Id="rId5" Type="http://schemas.openxmlformats.org/officeDocument/2006/relationships/image" Target="../media/image9.jpg"/><Relationship Id="rId4" Type="http://schemas.openxmlformats.org/officeDocument/2006/relationships/image" Target="../media/image8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wav"/><Relationship Id="rId1" Type="http://schemas.microsoft.com/office/2007/relationships/media" Target="../media/media11.wav"/><Relationship Id="rId6" Type="http://schemas.openxmlformats.org/officeDocument/2006/relationships/image" Target="../media/image4.png"/><Relationship Id="rId5" Type="http://schemas.openxmlformats.org/officeDocument/2006/relationships/image" Target="../media/image10.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microsoft.com/office/2007/relationships/media" Target="../media/media13.wav"/><Relationship Id="rId7" Type="http://schemas.openxmlformats.org/officeDocument/2006/relationships/image" Target="../media/image4.png"/><Relationship Id="rId2" Type="http://schemas.openxmlformats.org/officeDocument/2006/relationships/audio" Target="../media/media12.wav"/><Relationship Id="rId1" Type="http://schemas.microsoft.com/office/2007/relationships/media" Target="../media/media12.wav"/><Relationship Id="rId6" Type="http://schemas.openxmlformats.org/officeDocument/2006/relationships/image" Target="../media/image8.png"/><Relationship Id="rId5" Type="http://schemas.openxmlformats.org/officeDocument/2006/relationships/slideLayout" Target="../slideLayouts/slideLayout2.xml"/><Relationship Id="rId4" Type="http://schemas.openxmlformats.org/officeDocument/2006/relationships/audio" Target="../media/media13.wav"/></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wav"/><Relationship Id="rId1" Type="http://schemas.microsoft.com/office/2007/relationships/media" Target="../media/media14.wav"/><Relationship Id="rId5" Type="http://schemas.openxmlformats.org/officeDocument/2006/relationships/image" Target="../media/image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wav"/><Relationship Id="rId1" Type="http://schemas.microsoft.com/office/2007/relationships/media" Target="../media/media15.wav"/><Relationship Id="rId5" Type="http://schemas.openxmlformats.org/officeDocument/2006/relationships/image" Target="../media/image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wav"/><Relationship Id="rId1" Type="http://schemas.microsoft.com/office/2007/relationships/media" Target="../media/media16.wav"/><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wav"/><Relationship Id="rId1" Type="http://schemas.microsoft.com/office/2007/relationships/media" Target="../media/media17.wav"/><Relationship Id="rId5" Type="http://schemas.openxmlformats.org/officeDocument/2006/relationships/image" Target="../media/image4.png"/><Relationship Id="rId4" Type="http://schemas.openxmlformats.org/officeDocument/2006/relationships/image" Target="../media/image13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wav"/><Relationship Id="rId1" Type="http://schemas.microsoft.com/office/2007/relationships/media" Target="../media/media18.wav"/><Relationship Id="rId5" Type="http://schemas.openxmlformats.org/officeDocument/2006/relationships/image" Target="../media/image4.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wav"/><Relationship Id="rId1" Type="http://schemas.microsoft.com/office/2007/relationships/media" Target="../media/media19.wav"/><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i="1" u="sng" dirty="0" smtClean="0">
                <a:latin typeface="Tahoma" pitchFamily="34" charset="0"/>
                <a:ea typeface="Tahoma" pitchFamily="34" charset="0"/>
                <a:cs typeface="Tahoma" pitchFamily="34" charset="0"/>
              </a:rPr>
              <a:t>Applications of Calculus in BUSINESS ECONOMICS</a:t>
            </a:r>
            <a:endParaRPr lang="en-US" i="1" u="sng" dirty="0">
              <a:latin typeface="Tahoma" pitchFamily="34" charset="0"/>
              <a:ea typeface="Tahoma" pitchFamily="34" charset="0"/>
              <a:cs typeface="Tahoma" pitchFamily="34" charset="0"/>
            </a:endParaRPr>
          </a:p>
        </p:txBody>
      </p:sp>
      <p:sp>
        <p:nvSpPr>
          <p:cNvPr id="3" name="Subtitle 2"/>
          <p:cNvSpPr>
            <a:spLocks noGrp="1"/>
          </p:cNvSpPr>
          <p:nvPr>
            <p:ph type="subTitle" idx="1"/>
          </p:nvPr>
        </p:nvSpPr>
        <p:spPr/>
        <p:txBody>
          <a:bodyPr/>
          <a:lstStyle/>
          <a:p>
            <a:r>
              <a:rPr lang="en-US" b="1" i="1" u="sng" dirty="0" err="1" smtClean="0">
                <a:latin typeface="Tahoma" pitchFamily="34" charset="0"/>
                <a:ea typeface="Tahoma" pitchFamily="34" charset="0"/>
                <a:cs typeface="Tahoma" pitchFamily="34" charset="0"/>
              </a:rPr>
              <a:t>Shaheer</a:t>
            </a:r>
            <a:r>
              <a:rPr lang="en-US" b="1" i="1" u="sng" dirty="0" smtClean="0">
                <a:latin typeface="Tahoma" pitchFamily="34" charset="0"/>
                <a:ea typeface="Tahoma" pitchFamily="34" charset="0"/>
                <a:cs typeface="Tahoma" pitchFamily="34" charset="0"/>
              </a:rPr>
              <a:t> Ali.</a:t>
            </a:r>
          </a:p>
          <a:p>
            <a:r>
              <a:rPr lang="en-US" b="1" i="1" u="sng" dirty="0" smtClean="0">
                <a:latin typeface="Tahoma" pitchFamily="34" charset="0"/>
                <a:ea typeface="Tahoma" pitchFamily="34" charset="0"/>
                <a:cs typeface="Tahoma" pitchFamily="34" charset="0"/>
              </a:rPr>
              <a:t>ME(A)</a:t>
            </a:r>
            <a:endParaRPr lang="en-US" b="1" i="1" u="sng" dirty="0">
              <a:latin typeface="Tahoma" pitchFamily="34" charset="0"/>
              <a:ea typeface="Tahoma" pitchFamily="34" charset="0"/>
              <a:cs typeface="Tahoma" pitchFamily="34"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152400"/>
            <a:ext cx="2019300" cy="2019300"/>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19455" y="304800"/>
            <a:ext cx="2091098" cy="1866900"/>
          </a:xfrm>
          <a:prstGeom prst="rect">
            <a:avLst/>
          </a:prstGeom>
        </p:spPr>
      </p:pic>
      <p:sp>
        <p:nvSpPr>
          <p:cNvPr id="6" name="Slide Number Placeholder 5"/>
          <p:cNvSpPr>
            <a:spLocks noGrp="1"/>
          </p:cNvSpPr>
          <p:nvPr>
            <p:ph type="sldNum" sz="quarter" idx="12"/>
          </p:nvPr>
        </p:nvSpPr>
        <p:spPr/>
        <p:txBody>
          <a:bodyPr/>
          <a:lstStyle/>
          <a:p>
            <a:fld id="{81DF0707-73A5-4813-A3C2-5B4AAEF6BD4A}" type="slidenum">
              <a:rPr lang="en-US" smtClean="0"/>
              <a:t>1</a:t>
            </a:fld>
            <a:endParaRPr lang="en-US"/>
          </a:p>
        </p:txBody>
      </p:sp>
      <p:pic>
        <p:nvPicPr>
          <p:cNvPr id="7"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93608235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6816" fill="hold"/>
                                        <p:tgtEl>
                                          <p:spTgt spid="7"/>
                                        </p:tgtEl>
                                      </p:cBhvr>
                                    </p:cmd>
                                  </p:childTnLst>
                                </p:cTn>
                              </p:par>
                            </p:childTnLst>
                          </p:cTn>
                        </p:par>
                      </p:childTnLst>
                    </p:cTn>
                  </p:par>
                </p:childTnLst>
              </p:cTn>
              <p:nextCondLst>
                <p:cond evt="onClick" delay="0">
                  <p:tgtEl>
                    <p:spTgt spid="7"/>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3200" dirty="0">
                <a:latin typeface="Agency FB" pitchFamily="34" charset="0"/>
              </a:rPr>
              <a:t>Calculus, originally called infinitesimal calculus or "the calculus of infinitesimals", is the mathematical study of continuous change, in the same way that geometry is the study of shape and algebra is the study of generalizations of arithmetic operations.</a:t>
            </a:r>
          </a:p>
        </p:txBody>
      </p:sp>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What is Calculus?</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2</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75492637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2210"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524000"/>
                <a:ext cx="8229600" cy="4525963"/>
              </a:xfrm>
            </p:spPr>
            <p:txBody>
              <a:bodyPr>
                <a:normAutofit fontScale="70000" lnSpcReduction="20000"/>
              </a:bodyPr>
              <a:lstStyle/>
              <a:p>
                <a:r>
                  <a:rPr lang="en-US" sz="3200" b="1" u="sng" dirty="0" smtClean="0">
                    <a:latin typeface="Agency FB" pitchFamily="34" charset="0"/>
                  </a:rPr>
                  <a:t>Limits and Continuity</a:t>
                </a:r>
              </a:p>
              <a:p>
                <a:r>
                  <a:rPr lang="en-US" sz="3200" b="1" u="sng" dirty="0" smtClean="0">
                    <a:latin typeface="Agency FB" pitchFamily="34" charset="0"/>
                  </a:rPr>
                  <a:t>Differential Calculus</a:t>
                </a:r>
              </a:p>
              <a:p>
                <a:pPr marL="109728" indent="0">
                  <a:buNone/>
                </a:pPr>
                <a:r>
                  <a:rPr lang="en-US" sz="3200" dirty="0">
                    <a:latin typeface="Agency FB" pitchFamily="34" charset="0"/>
                  </a:rPr>
                  <a:t>Differential calculus is the study of the definition, properties, and applications of the derivative of a function. The process of finding the derivative is called </a:t>
                </a:r>
                <a:r>
                  <a:rPr lang="en-US" sz="3200" b="1" i="1" dirty="0">
                    <a:latin typeface="Agency FB" pitchFamily="34" charset="0"/>
                  </a:rPr>
                  <a:t>differentiation</a:t>
                </a:r>
                <a:r>
                  <a:rPr lang="en-US" sz="3200" dirty="0" smtClean="0">
                    <a:latin typeface="Agency FB" pitchFamily="34" charset="0"/>
                  </a:rPr>
                  <a:t>.</a:t>
                </a:r>
              </a:p>
              <a:p>
                <a:pPr marL="109728" indent="0">
                  <a:buNone/>
                </a:pPr>
                <a:r>
                  <a:rPr lang="en-US" sz="3200" dirty="0">
                    <a:latin typeface="Agency FB" pitchFamily="34" charset="0"/>
                  </a:rPr>
                  <a:t>Derivative is the slope of the graph.</a:t>
                </a:r>
              </a:p>
              <a:p>
                <a:pPr marL="109728" indent="0" algn="ctr">
                  <a:buNone/>
                </a:pPr>
                <a14:m>
                  <m:oMathPara xmlns:m="http://schemas.openxmlformats.org/officeDocument/2006/math">
                    <m:oMathParaPr>
                      <m:jc m:val="centerGroup"/>
                    </m:oMathParaPr>
                    <m:oMath xmlns:m="http://schemas.openxmlformats.org/officeDocument/2006/math">
                      <m:f>
                        <m:fPr>
                          <m:ctrlPr>
                            <a:rPr lang="en-US" sz="2400" b="1" i="1">
                              <a:latin typeface="Cambria Math"/>
                            </a:rPr>
                          </m:ctrlPr>
                        </m:fPr>
                        <m:num>
                          <m:r>
                            <a:rPr lang="en-US" sz="2400" b="1" i="1">
                              <a:latin typeface="Cambria Math"/>
                            </a:rPr>
                            <m:t>𝒅𝒚</m:t>
                          </m:r>
                        </m:num>
                        <m:den>
                          <m:r>
                            <a:rPr lang="en-US" sz="2400" b="1" i="1">
                              <a:latin typeface="Cambria Math"/>
                            </a:rPr>
                            <m:t>𝒅𝒙</m:t>
                          </m:r>
                        </m:den>
                      </m:f>
                      <m:r>
                        <a:rPr lang="en-US" sz="2400" b="1" i="1">
                          <a:latin typeface="Cambria Math"/>
                        </a:rPr>
                        <m:t>=</m:t>
                      </m:r>
                      <m:r>
                        <a:rPr lang="en-US" sz="2400" b="1" i="1">
                          <a:latin typeface="Cambria Math"/>
                        </a:rPr>
                        <m:t>𝒎</m:t>
                      </m:r>
                      <m:r>
                        <a:rPr lang="en-US" sz="2400" b="1" i="1">
                          <a:latin typeface="Cambria Math"/>
                        </a:rPr>
                        <m:t>=</m:t>
                      </m:r>
                      <m:r>
                        <a:rPr lang="en-US" sz="2400" b="1" i="1">
                          <a:latin typeface="Cambria Math"/>
                        </a:rPr>
                        <m:t>𝒈𝒆𝒏𝒆𝒓𝒂𝒍</m:t>
                      </m:r>
                      <m:r>
                        <a:rPr lang="en-US" sz="2400" b="1" i="1">
                          <a:latin typeface="Cambria Math"/>
                        </a:rPr>
                        <m:t> </m:t>
                      </m:r>
                      <m:r>
                        <a:rPr lang="en-US" sz="2400" b="1" i="1">
                          <a:latin typeface="Cambria Math"/>
                        </a:rPr>
                        <m:t>𝒔𝒍𝒐𝒑𝒆</m:t>
                      </m:r>
                      <m:r>
                        <a:rPr lang="en-US" sz="2400" b="1" i="1">
                          <a:latin typeface="Cambria Math"/>
                        </a:rPr>
                        <m:t> </m:t>
                      </m:r>
                      <m:r>
                        <a:rPr lang="en-US" sz="2400" b="1" i="1">
                          <a:latin typeface="Cambria Math"/>
                        </a:rPr>
                        <m:t>𝒐𝒇</m:t>
                      </m:r>
                      <m:r>
                        <a:rPr lang="en-US" sz="2400" b="1" i="1">
                          <a:latin typeface="Cambria Math"/>
                        </a:rPr>
                        <m:t> </m:t>
                      </m:r>
                      <m:r>
                        <a:rPr lang="en-US" sz="2400" b="1" i="1">
                          <a:latin typeface="Cambria Math"/>
                        </a:rPr>
                        <m:t>𝒈𝒓𝒂𝒑𝒉</m:t>
                      </m:r>
                      <m:r>
                        <a:rPr lang="en-US" sz="2400" b="1" i="1">
                          <a:latin typeface="Cambria Math"/>
                        </a:rPr>
                        <m:t> </m:t>
                      </m:r>
                    </m:oMath>
                  </m:oMathPara>
                </a14:m>
                <a:endParaRPr lang="en-US" sz="2400" b="1" dirty="0">
                  <a:latin typeface="Agency FB" pitchFamily="34" charset="0"/>
                </a:endParaRPr>
              </a:p>
              <a:p>
                <a:pPr marL="109728" indent="0">
                  <a:buNone/>
                </a:pPr>
                <a:endParaRPr lang="en-US" sz="3200" b="1" u="sng" dirty="0" smtClean="0">
                  <a:latin typeface="Agency FB" pitchFamily="34" charset="0"/>
                </a:endParaRPr>
              </a:p>
              <a:p>
                <a:r>
                  <a:rPr lang="en-US" sz="3200" b="1" u="sng" dirty="0" smtClean="0">
                    <a:latin typeface="Agency FB" pitchFamily="34" charset="0"/>
                  </a:rPr>
                  <a:t>Integral Calculus</a:t>
                </a:r>
              </a:p>
              <a:p>
                <a:pPr marL="109728" indent="0">
                  <a:buNone/>
                </a:pPr>
                <a:r>
                  <a:rPr lang="en-US" sz="3100" i="1" dirty="0">
                    <a:latin typeface="Agency FB" pitchFamily="34" charset="0"/>
                  </a:rPr>
                  <a:t>Integral calculus</a:t>
                </a:r>
                <a:r>
                  <a:rPr lang="en-US" sz="3100" dirty="0">
                    <a:latin typeface="Agency FB" pitchFamily="34" charset="0"/>
                  </a:rPr>
                  <a:t> is the study of the definitions, properties, and applications of two related concepts, the </a:t>
                </a:r>
                <a:r>
                  <a:rPr lang="en-US" sz="3100" b="1" i="1" dirty="0">
                    <a:latin typeface="Agency FB" pitchFamily="34" charset="0"/>
                  </a:rPr>
                  <a:t>indefinite integral</a:t>
                </a:r>
                <a:r>
                  <a:rPr lang="en-US" sz="3100" b="1" dirty="0">
                    <a:latin typeface="Agency FB" pitchFamily="34" charset="0"/>
                  </a:rPr>
                  <a:t> </a:t>
                </a:r>
                <a:r>
                  <a:rPr lang="en-US" sz="3100" dirty="0">
                    <a:latin typeface="Agency FB" pitchFamily="34" charset="0"/>
                  </a:rPr>
                  <a:t>and the </a:t>
                </a:r>
                <a:r>
                  <a:rPr lang="en-US" sz="3100" b="1" i="1" dirty="0">
                    <a:latin typeface="Agency FB" pitchFamily="34" charset="0"/>
                  </a:rPr>
                  <a:t>definite integral</a:t>
                </a:r>
                <a:r>
                  <a:rPr lang="en-US" sz="3100" b="1" i="1" dirty="0" smtClean="0">
                    <a:latin typeface="Agency FB" pitchFamily="34" charset="0"/>
                  </a:rPr>
                  <a:t>.</a:t>
                </a:r>
              </a:p>
              <a:p>
                <a:pPr marL="109728" indent="0">
                  <a:buNone/>
                </a:pPr>
                <a:r>
                  <a:rPr lang="en-US" sz="3100" dirty="0">
                    <a:latin typeface="Agency FB" pitchFamily="34" charset="0"/>
                  </a:rPr>
                  <a:t>The </a:t>
                </a:r>
                <a:r>
                  <a:rPr lang="en-US" sz="3100" i="1" dirty="0">
                    <a:latin typeface="Agency FB" pitchFamily="34" charset="0"/>
                  </a:rPr>
                  <a:t>indefinite integral</a:t>
                </a:r>
                <a:r>
                  <a:rPr lang="en-US" sz="3100" dirty="0">
                    <a:latin typeface="Agency FB" pitchFamily="34" charset="0"/>
                  </a:rPr>
                  <a:t>, also known as the </a:t>
                </a:r>
                <a:r>
                  <a:rPr lang="en-US" sz="3100" b="1" i="1" dirty="0" err="1">
                    <a:latin typeface="Agency FB" pitchFamily="34" charset="0"/>
                  </a:rPr>
                  <a:t>antiderivative</a:t>
                </a:r>
                <a:r>
                  <a:rPr lang="en-US" sz="3100" dirty="0">
                    <a:latin typeface="Agency FB" pitchFamily="34" charset="0"/>
                  </a:rPr>
                  <a:t>, is the inverse operation to the </a:t>
                </a:r>
                <a:r>
                  <a:rPr lang="en-US" sz="3100" dirty="0" smtClean="0">
                    <a:latin typeface="Agency FB" pitchFamily="34" charset="0"/>
                  </a:rPr>
                  <a:t>derivative.</a:t>
                </a:r>
              </a:p>
              <a:p>
                <a:pPr marL="109728" indent="0">
                  <a:buNone/>
                </a:pPr>
                <a:r>
                  <a:rPr lang="en-US" sz="3100" dirty="0" smtClean="0">
                    <a:latin typeface="Agency FB" pitchFamily="34" charset="0"/>
                  </a:rPr>
                  <a:t>The definite integral provides the area under the graph.</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524000"/>
                <a:ext cx="8229600" cy="4525963"/>
              </a:xfrm>
              <a:blipFill rotWithShape="1">
                <a:blip r:embed="rId4"/>
                <a:stretch>
                  <a:fillRect t="-2291" r="-133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Branches of Calculus</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3</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8734048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5840"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900" dirty="0" smtClean="0">
                <a:latin typeface="Agency FB" pitchFamily="34" charset="0"/>
              </a:rPr>
              <a:t>Business Economics is defined as the branch of economics that enables owners to analyze their business, revenue, profit and expenditures and enables them to plan their ventures accordingly.</a:t>
            </a:r>
          </a:p>
          <a:p>
            <a:r>
              <a:rPr lang="en-US" sz="2900" dirty="0" smtClean="0">
                <a:latin typeface="Agency FB" pitchFamily="34" charset="0"/>
              </a:rPr>
              <a:t>In Business, Calculus is mainly used for optimization. This includes maximizing profits, minimizing cost, and maximizing or minimizing production. Also, Calculus can be used to calculate the rate of change in cost or the marginal revenue for an interest-bearing account. General Applications of Calculus in business are:</a:t>
            </a:r>
          </a:p>
          <a:p>
            <a:r>
              <a:rPr lang="en-US" b="1" i="1" u="sng" dirty="0" smtClean="0">
                <a:latin typeface="Agency FB" pitchFamily="34" charset="0"/>
              </a:rPr>
              <a:t>OPTIMIZATION</a:t>
            </a:r>
          </a:p>
          <a:p>
            <a:r>
              <a:rPr lang="en-US" b="1" i="1" u="sng" dirty="0" smtClean="0">
                <a:latin typeface="Agency FB" pitchFamily="34" charset="0"/>
              </a:rPr>
              <a:t>MAXIMIZING PROFITS</a:t>
            </a:r>
          </a:p>
          <a:p>
            <a:r>
              <a:rPr lang="en-US" b="1" i="1" u="sng" dirty="0" smtClean="0">
                <a:latin typeface="Agency FB" pitchFamily="34" charset="0"/>
              </a:rPr>
              <a:t>MINIMIZING COSTS</a:t>
            </a:r>
          </a:p>
          <a:p>
            <a:r>
              <a:rPr lang="en-US" b="1" i="1" u="sng" dirty="0" smtClean="0">
                <a:latin typeface="Agency FB" pitchFamily="34" charset="0"/>
              </a:rPr>
              <a:t>MARGINAL ANALYSIS OF REVENUE, COSTS AND PROFIT</a:t>
            </a:r>
          </a:p>
        </p:txBody>
      </p:sp>
      <p:sp>
        <p:nvSpPr>
          <p:cNvPr id="3" name="Title 2"/>
          <p:cNvSpPr>
            <a:spLocks noGrp="1"/>
          </p:cNvSpPr>
          <p:nvPr>
            <p:ph type="title"/>
          </p:nvPr>
        </p:nvSpPr>
        <p:spPr/>
        <p:txBody>
          <a:bodyPr>
            <a:normAutofit fontScale="90000"/>
          </a:bodyPr>
          <a:lstStyle/>
          <a:p>
            <a:r>
              <a:rPr lang="en-US" i="1" u="sng" dirty="0" smtClean="0">
                <a:latin typeface="Tahoma" pitchFamily="34" charset="0"/>
                <a:ea typeface="Tahoma" pitchFamily="34" charset="0"/>
                <a:cs typeface="Tahoma" pitchFamily="34" charset="0"/>
              </a:rPr>
              <a:t>Calculus in Business Economics</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4</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243578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5945"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a:bodyPr>
              <a:lstStyle/>
              <a:p>
                <a:r>
                  <a:rPr lang="en-US" dirty="0" smtClean="0">
                    <a:latin typeface="Agency FB" pitchFamily="34" charset="0"/>
                  </a:rPr>
                  <a:t>Optimization involves the best possible conditions for a particular process.</a:t>
                </a:r>
              </a:p>
              <a:p>
                <a:r>
                  <a:rPr lang="en-US" dirty="0" smtClean="0">
                    <a:latin typeface="Agency FB" pitchFamily="34" charset="0"/>
                  </a:rPr>
                  <a:t>Optimization includes finding the </a:t>
                </a:r>
                <a:r>
                  <a:rPr lang="en-US" b="1" i="1" dirty="0" smtClean="0">
                    <a:latin typeface="Agency FB" pitchFamily="34" charset="0"/>
                  </a:rPr>
                  <a:t>maximum and minimum values </a:t>
                </a:r>
                <a:r>
                  <a:rPr lang="en-US" dirty="0" smtClean="0">
                    <a:latin typeface="Agency FB" pitchFamily="34" charset="0"/>
                  </a:rPr>
                  <a:t>for a profit or cost function.</a:t>
                </a:r>
              </a:p>
              <a:p>
                <a:r>
                  <a:rPr lang="en-US" dirty="0" smtClean="0">
                    <a:latin typeface="Agency FB" pitchFamily="34" charset="0"/>
                  </a:rPr>
                  <a:t>For a function to be maximum or minimum:</a:t>
                </a:r>
              </a:p>
              <a:p>
                <a:pPr algn="ctr">
                  <a:buFont typeface="Wingdings" pitchFamily="2" charset="2"/>
                  <a:buChar char="Ø"/>
                </a:pPr>
                <a14:m>
                  <m:oMath xmlns:m="http://schemas.openxmlformats.org/officeDocument/2006/math">
                    <m:f>
                      <m:fPr>
                        <m:ctrlPr>
                          <a:rPr lang="en-US" i="1" smtClean="0">
                            <a:latin typeface="Cambria Math"/>
                          </a:rPr>
                        </m:ctrlPr>
                      </m:fPr>
                      <m:num>
                        <m:r>
                          <a:rPr lang="en-US" i="1" smtClean="0">
                            <a:latin typeface="Cambria Math"/>
                          </a:rPr>
                          <m:t>𝑑𝑦</m:t>
                        </m:r>
                      </m:num>
                      <m:den>
                        <m:r>
                          <a:rPr lang="en-US" i="1" smtClean="0">
                            <a:latin typeface="Cambria Math"/>
                          </a:rPr>
                          <m:t>𝑑𝑥</m:t>
                        </m:r>
                      </m:den>
                    </m:f>
                    <m:r>
                      <a:rPr lang="en-US" b="0" i="1" smtClean="0">
                        <a:latin typeface="Cambria Math"/>
                      </a:rPr>
                      <m:t>=0</m:t>
                    </m:r>
                  </m:oMath>
                </a14:m>
                <a:endParaRPr lang="en-US" dirty="0" smtClean="0">
                  <a:latin typeface="Agency FB" pitchFamily="34" charset="0"/>
                </a:endParaRPr>
              </a:p>
              <a:p>
                <a:r>
                  <a:rPr lang="en-US" dirty="0" smtClean="0">
                    <a:latin typeface="Agency FB" pitchFamily="34" charset="0"/>
                  </a:rPr>
                  <a:t>This involves producing maximum profit by providing minimum cost.</a:t>
                </a:r>
              </a:p>
              <a:p>
                <a:r>
                  <a:rPr lang="en-US" dirty="0" smtClean="0">
                    <a:latin typeface="Agency FB" pitchFamily="34" charset="0"/>
                  </a:rPr>
                  <a:t>Optimization involves:</a:t>
                </a:r>
              </a:p>
              <a:p>
                <a:pPr algn="just">
                  <a:buFont typeface="Wingdings" pitchFamily="2" charset="2"/>
                  <a:buChar char="Ø"/>
                </a:pPr>
                <a:r>
                  <a:rPr lang="en-US" b="1" dirty="0" smtClean="0">
                    <a:latin typeface="Agency FB" pitchFamily="34" charset="0"/>
                  </a:rPr>
                  <a:t>MAXIMIZATION OF PROFITS</a:t>
                </a:r>
              </a:p>
              <a:p>
                <a:pPr algn="just">
                  <a:buFont typeface="Wingdings" pitchFamily="2" charset="2"/>
                  <a:buChar char="Ø"/>
                </a:pPr>
                <a:r>
                  <a:rPr lang="en-US" b="1" dirty="0" smtClean="0">
                    <a:latin typeface="Agency FB" pitchFamily="34" charset="0"/>
                  </a:rPr>
                  <a:t>MINIMIZATION OF COSTS</a:t>
                </a:r>
              </a:p>
              <a:p>
                <a:r>
                  <a:rPr lang="en-US" dirty="0" smtClean="0">
                    <a:latin typeface="Agency FB" pitchFamily="34" charset="0"/>
                  </a:rPr>
                  <a:t>Thus differential calculus is instrumental in </a:t>
                </a:r>
                <a:r>
                  <a:rPr lang="en-US" b="1" i="1" dirty="0" smtClean="0">
                    <a:latin typeface="Agency FB" pitchFamily="34" charset="0"/>
                  </a:rPr>
                  <a:t>COST-BENEFIT ANALYSIS.</a:t>
                </a:r>
                <a:endParaRPr lang="en-US" dirty="0">
                  <a:latin typeface="Agency FB"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1078" b="-2156"/>
                </a:stretch>
              </a:blipFill>
            </p:spPr>
            <p:txBody>
              <a:bodyPr/>
              <a:lstStyle/>
              <a:p>
                <a:r>
                  <a:rPr lang="en-US">
                    <a:noFill/>
                  </a:rPr>
                  <a:t> </a:t>
                </a:r>
              </a:p>
            </p:txBody>
          </p:sp>
        </mc:Fallback>
      </mc:AlternateContent>
      <p:sp>
        <p:nvSpPr>
          <p:cNvPr id="3" name="Title 2"/>
          <p:cNvSpPr>
            <a:spLocks noGrp="1"/>
          </p:cNvSpPr>
          <p:nvPr>
            <p:ph type="title"/>
          </p:nvPr>
        </p:nvSpPr>
        <p:spPr/>
        <p:txBody>
          <a:bodyPr>
            <a:normAutofit/>
          </a:bodyPr>
          <a:lstStyle/>
          <a:p>
            <a:r>
              <a:rPr lang="en-US" i="1" u="sng" dirty="0" smtClean="0">
                <a:latin typeface="Tahoma" pitchFamily="34" charset="0"/>
                <a:ea typeface="Tahoma" pitchFamily="34" charset="0"/>
                <a:cs typeface="Tahoma" pitchFamily="34" charset="0"/>
              </a:rPr>
              <a:t>Optimization</a:t>
            </a:r>
            <a:endParaRPr lang="en-US" i="1" u="sng" dirty="0">
              <a:latin typeface="Tahoma" pitchFamily="34" charset="0"/>
              <a:ea typeface="Tahoma" pitchFamily="34" charset="0"/>
              <a:cs typeface="Tahoma" pitchFamily="34"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7800" y="4242048"/>
            <a:ext cx="2152194" cy="1258206"/>
          </a:xfrm>
          <a:prstGeom prst="rect">
            <a:avLst/>
          </a:prstGeom>
        </p:spPr>
      </p:pic>
      <p:sp>
        <p:nvSpPr>
          <p:cNvPr id="5" name="Slide Number Placeholder 4"/>
          <p:cNvSpPr>
            <a:spLocks noGrp="1"/>
          </p:cNvSpPr>
          <p:nvPr>
            <p:ph type="sldNum" sz="quarter" idx="12"/>
          </p:nvPr>
        </p:nvSpPr>
        <p:spPr/>
        <p:txBody>
          <a:bodyPr/>
          <a:lstStyle/>
          <a:p>
            <a:fld id="{81DF0707-73A5-4813-A3C2-5B4AAEF6BD4A}" type="slidenum">
              <a:rPr lang="en-US" smtClean="0"/>
              <a:t>5</a:t>
            </a:fld>
            <a:endParaRPr lang="en-US" dirty="0"/>
          </a:p>
        </p:txBody>
      </p:sp>
      <p:pic>
        <p:nvPicPr>
          <p:cNvPr id="6"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6159181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6199"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85000" lnSpcReduction="10000"/>
              </a:bodyPr>
              <a:lstStyle/>
              <a:p>
                <a:r>
                  <a:rPr lang="en-US" sz="3200"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Using First Derivative for </a:t>
                </a:r>
                <a:r>
                  <a:rPr lang="en-US" sz="3200" b="1" i="1" u="sng" dirty="0" err="1" smtClean="0">
                    <a:effectLst>
                      <a:outerShdw blurRad="38100" dist="38100" dir="2700000" algn="tl">
                        <a:srgbClr val="000000">
                          <a:alpha val="43137"/>
                        </a:srgbClr>
                      </a:outerShdw>
                    </a:effectLst>
                    <a:latin typeface="Tahoma" pitchFamily="34" charset="0"/>
                    <a:ea typeface="Tahoma" pitchFamily="34" charset="0"/>
                    <a:cs typeface="Tahoma" pitchFamily="34" charset="0"/>
                  </a:rPr>
                  <a:t>Extrema</a:t>
                </a:r>
                <a:endParaRPr lang="en-US" sz="3200"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endParaRPr>
              </a:p>
              <a:p>
                <a:pPr marL="109728" indent="0" fontAlgn="base">
                  <a:buNone/>
                </a:pPr>
                <a:r>
                  <a:rPr lang="en-US" sz="2800" dirty="0">
                    <a:latin typeface="Agency FB" pitchFamily="34" charset="0"/>
                  </a:rPr>
                  <a:t>π = -100+ 160Q-10Q</a:t>
                </a:r>
                <a:r>
                  <a:rPr lang="en-US" sz="2800" baseline="30000" dirty="0">
                    <a:latin typeface="Agency FB" pitchFamily="34" charset="0"/>
                  </a:rPr>
                  <a:t>2</a:t>
                </a:r>
                <a:endParaRPr lang="en-US" sz="2800" dirty="0">
                  <a:latin typeface="Agency FB" pitchFamily="34" charset="0"/>
                </a:endParaRPr>
              </a:p>
              <a:p>
                <a:pPr marL="109728" indent="0" fontAlgn="base">
                  <a:buNone/>
                </a:pPr>
                <a:r>
                  <a:rPr lang="en-US" sz="2800" dirty="0">
                    <a:latin typeface="Agency FB" pitchFamily="34" charset="0"/>
                  </a:rPr>
                  <a:t>Where π = profits and Q is units of </a:t>
                </a:r>
                <a:r>
                  <a:rPr lang="en-US" sz="2800" dirty="0" smtClean="0">
                    <a:latin typeface="Agency FB" pitchFamily="34" charset="0"/>
                  </a:rPr>
                  <a:t>output, </a:t>
                </a:r>
                <a:r>
                  <a:rPr lang="en-US" sz="2800" dirty="0" err="1" smtClean="0">
                    <a:latin typeface="Agency FB" pitchFamily="34" charset="0"/>
                  </a:rPr>
                  <a:t>i.e</a:t>
                </a:r>
                <a:r>
                  <a:rPr lang="en-US" sz="2800" dirty="0" smtClean="0">
                    <a:latin typeface="Agency FB" pitchFamily="34" charset="0"/>
                  </a:rPr>
                  <a:t> the number of produced products</a:t>
                </a:r>
                <a:endParaRPr lang="en-US" sz="2800" dirty="0">
                  <a:latin typeface="Agency FB" pitchFamily="34" charset="0"/>
                </a:endParaRPr>
              </a:p>
              <a:p>
                <a:pPr marL="109728" indent="0" fontAlgn="base">
                  <a:buNone/>
                </a:pPr>
                <a:r>
                  <a:rPr lang="en-US" sz="2800" dirty="0">
                    <a:latin typeface="Agency FB" pitchFamily="34" charset="0"/>
                  </a:rPr>
                  <a:t>For the profit (π) function to be </a:t>
                </a:r>
                <a:r>
                  <a:rPr lang="en-US" sz="2800" dirty="0" smtClean="0">
                    <a:latin typeface="Agency FB" pitchFamily="34" charset="0"/>
                  </a:rPr>
                  <a:t>maximum or minimum, </a:t>
                </a:r>
                <a:r>
                  <a:rPr lang="en-US" sz="2800" dirty="0">
                    <a:latin typeface="Agency FB" pitchFamily="34" charset="0"/>
                  </a:rPr>
                  <a:t>its first derivative must be equal to zero</a:t>
                </a:r>
                <a:r>
                  <a:rPr lang="en-US" sz="2800" dirty="0" smtClean="0">
                    <a:latin typeface="Agency FB" pitchFamily="34" charset="0"/>
                  </a:rPr>
                  <a:t>.</a:t>
                </a:r>
              </a:p>
              <a:p>
                <a:pPr marL="109728" indent="0" algn="ctr" fontAlgn="base">
                  <a:buNone/>
                </a:pPr>
                <a14:m>
                  <m:oMathPara xmlns:m="http://schemas.openxmlformats.org/officeDocument/2006/math">
                    <m:oMathParaPr>
                      <m:jc m:val="centerGroup"/>
                    </m:oMathParaPr>
                    <m:oMath xmlns:m="http://schemas.openxmlformats.org/officeDocument/2006/math">
                      <m:f>
                        <m:fPr>
                          <m:ctrlPr>
                            <a:rPr lang="en-US" sz="1800" b="1" i="1" smtClean="0">
                              <a:latin typeface="Cambria Math"/>
                            </a:rPr>
                          </m:ctrlPr>
                        </m:fPr>
                        <m:num>
                          <m:r>
                            <a:rPr lang="en-US" sz="1800" b="1" i="1" smtClean="0">
                              <a:latin typeface="Cambria Math"/>
                            </a:rPr>
                            <m:t>𝒅</m:t>
                          </m:r>
                          <m:r>
                            <a:rPr lang="en-US" sz="1800" b="1" i="1" smtClean="0">
                              <a:latin typeface="Cambria Math"/>
                              <a:ea typeface="Cambria Math"/>
                            </a:rPr>
                            <m:t>𝝅</m:t>
                          </m:r>
                        </m:num>
                        <m:den>
                          <m:r>
                            <a:rPr lang="en-US" sz="1800" b="1" i="1" smtClean="0">
                              <a:latin typeface="Cambria Math"/>
                            </a:rPr>
                            <m:t>𝒅𝑸</m:t>
                          </m:r>
                        </m:den>
                      </m:f>
                      <m:r>
                        <a:rPr lang="en-US" sz="1800" b="1" i="1" smtClean="0">
                          <a:latin typeface="Cambria Math"/>
                        </a:rPr>
                        <m:t>=</m:t>
                      </m:r>
                      <m:r>
                        <a:rPr lang="en-US" sz="1800" b="1" i="1" smtClean="0">
                          <a:latin typeface="Cambria Math"/>
                        </a:rPr>
                        <m:t>𝟏𝟔𝟎</m:t>
                      </m:r>
                      <m:r>
                        <a:rPr lang="en-US" sz="1800" b="1" i="1" smtClean="0">
                          <a:latin typeface="Cambria Math"/>
                        </a:rPr>
                        <m:t>−</m:t>
                      </m:r>
                      <m:r>
                        <a:rPr lang="en-US" sz="1800" b="1" i="1" smtClean="0">
                          <a:latin typeface="Cambria Math"/>
                        </a:rPr>
                        <m:t>𝟐𝟎</m:t>
                      </m:r>
                      <m:r>
                        <a:rPr lang="en-US" sz="1800" b="1" i="1" smtClean="0">
                          <a:latin typeface="Cambria Math"/>
                        </a:rPr>
                        <m:t>𝑸</m:t>
                      </m:r>
                    </m:oMath>
                  </m:oMathPara>
                </a14:m>
                <a:endParaRPr lang="en-US" sz="1800" b="1" dirty="0" smtClean="0">
                  <a:latin typeface="Agency FB" pitchFamily="34" charset="0"/>
                </a:endParaRPr>
              </a:p>
              <a:p>
                <a:pPr marL="109728" indent="0" fontAlgn="base">
                  <a:buNone/>
                </a:pPr>
                <a:r>
                  <a:rPr lang="en-US" sz="2400" dirty="0" err="1" smtClean="0">
                    <a:latin typeface="Agency FB" pitchFamily="34" charset="0"/>
                  </a:rPr>
                  <a:t>Puttting</a:t>
                </a:r>
                <a:r>
                  <a:rPr lang="en-US" sz="2400" dirty="0" smtClean="0">
                    <a:latin typeface="Agency FB" pitchFamily="34" charset="0"/>
                  </a:rPr>
                  <a:t> first derivative equal to zero for </a:t>
                </a:r>
                <a:r>
                  <a:rPr lang="en-US" sz="2400" dirty="0" err="1" smtClean="0">
                    <a:latin typeface="Agency FB" pitchFamily="34" charset="0"/>
                  </a:rPr>
                  <a:t>extrema</a:t>
                </a:r>
                <a:r>
                  <a:rPr lang="en-US" sz="2400" dirty="0" smtClean="0">
                    <a:latin typeface="Agency FB" pitchFamily="34" charset="0"/>
                  </a:rPr>
                  <a:t>,</a:t>
                </a:r>
              </a:p>
              <a:p>
                <a:pPr marL="109728" indent="0" algn="ctr" fontAlgn="base">
                  <a:buNone/>
                </a:pPr>
                <a14:m>
                  <m:oMathPara xmlns:m="http://schemas.openxmlformats.org/officeDocument/2006/math">
                    <m:oMathParaPr>
                      <m:jc m:val="centerGroup"/>
                    </m:oMathParaPr>
                    <m:oMath xmlns:m="http://schemas.openxmlformats.org/officeDocument/2006/math">
                      <m:f>
                        <m:fPr>
                          <m:ctrlPr>
                            <a:rPr lang="en-US" sz="1800" b="1" i="1" smtClean="0">
                              <a:latin typeface="Cambria Math"/>
                              <a:ea typeface="Tahoma" pitchFamily="34" charset="0"/>
                              <a:cs typeface="Tahoma" pitchFamily="34" charset="0"/>
                            </a:rPr>
                          </m:ctrlPr>
                        </m:fPr>
                        <m:num>
                          <m:r>
                            <a:rPr lang="en-US" sz="1800" b="1" i="1" smtClean="0">
                              <a:latin typeface="Cambria Math"/>
                              <a:ea typeface="Tahoma" pitchFamily="34" charset="0"/>
                              <a:cs typeface="Tahoma" pitchFamily="34" charset="0"/>
                            </a:rPr>
                            <m:t>𝒅</m:t>
                          </m:r>
                          <m:r>
                            <a:rPr lang="en-US" sz="1800" b="1" i="1" smtClean="0">
                              <a:latin typeface="Cambria Math"/>
                              <a:ea typeface="Cambria Math"/>
                              <a:cs typeface="Tahoma" pitchFamily="34" charset="0"/>
                            </a:rPr>
                            <m:t>𝝅</m:t>
                          </m:r>
                        </m:num>
                        <m:den>
                          <m:r>
                            <a:rPr lang="en-US" sz="1800" b="1" i="1" smtClean="0">
                              <a:latin typeface="Cambria Math"/>
                              <a:ea typeface="Tahoma" pitchFamily="34" charset="0"/>
                              <a:cs typeface="Tahoma" pitchFamily="34" charset="0"/>
                            </a:rPr>
                            <m:t>𝒅𝑸</m:t>
                          </m:r>
                        </m:den>
                      </m:f>
                      <m:r>
                        <a:rPr lang="en-US" sz="1800" b="1" i="1" smtClean="0">
                          <a:latin typeface="Cambria Math"/>
                          <a:ea typeface="Tahoma" pitchFamily="34" charset="0"/>
                          <a:cs typeface="Tahoma" pitchFamily="34" charset="0"/>
                        </a:rPr>
                        <m:t>=</m:t>
                      </m:r>
                      <m:r>
                        <a:rPr lang="en-US" sz="1800" b="1" i="1" smtClean="0">
                          <a:latin typeface="Cambria Math"/>
                          <a:ea typeface="Tahoma" pitchFamily="34" charset="0"/>
                          <a:cs typeface="Tahoma" pitchFamily="34" charset="0"/>
                        </a:rPr>
                        <m:t>𝟏𝟔𝟎</m:t>
                      </m:r>
                      <m:r>
                        <a:rPr lang="en-US" sz="1800" b="1" i="1" smtClean="0">
                          <a:latin typeface="Cambria Math"/>
                          <a:ea typeface="Tahoma" pitchFamily="34" charset="0"/>
                          <a:cs typeface="Tahoma" pitchFamily="34" charset="0"/>
                        </a:rPr>
                        <m:t>−</m:t>
                      </m:r>
                      <m:r>
                        <a:rPr lang="en-US" sz="1800" b="1" i="1" smtClean="0">
                          <a:latin typeface="Cambria Math"/>
                          <a:ea typeface="Tahoma" pitchFamily="34" charset="0"/>
                          <a:cs typeface="Tahoma" pitchFamily="34" charset="0"/>
                        </a:rPr>
                        <m:t>𝟐𝟎</m:t>
                      </m:r>
                      <m:r>
                        <a:rPr lang="en-US" sz="1800" b="1" i="1" smtClean="0">
                          <a:latin typeface="Cambria Math"/>
                          <a:ea typeface="Tahoma" pitchFamily="34" charset="0"/>
                          <a:cs typeface="Tahoma" pitchFamily="34" charset="0"/>
                        </a:rPr>
                        <m:t>𝑸</m:t>
                      </m:r>
                      <m:r>
                        <a:rPr lang="en-US" sz="1800" b="1" i="1" smtClean="0">
                          <a:latin typeface="Cambria Math"/>
                          <a:ea typeface="Tahoma" pitchFamily="34" charset="0"/>
                          <a:cs typeface="Tahoma" pitchFamily="34" charset="0"/>
                        </a:rPr>
                        <m:t>=</m:t>
                      </m:r>
                      <m:r>
                        <a:rPr lang="en-US" sz="1800" b="1" i="1" smtClean="0">
                          <a:latin typeface="Cambria Math"/>
                          <a:ea typeface="Tahoma" pitchFamily="34" charset="0"/>
                          <a:cs typeface="Tahoma" pitchFamily="34" charset="0"/>
                        </a:rPr>
                        <m:t>𝟎</m:t>
                      </m:r>
                    </m:oMath>
                  </m:oMathPara>
                </a14:m>
                <a:endParaRPr lang="en-US" sz="1800" b="1" dirty="0" smtClean="0">
                  <a:latin typeface="Tahoma" pitchFamily="34" charset="0"/>
                  <a:ea typeface="Tahoma" pitchFamily="34" charset="0"/>
                  <a:cs typeface="Tahoma" pitchFamily="34" charset="0"/>
                </a:endParaRPr>
              </a:p>
              <a:p>
                <a:pPr marL="109728" indent="0" algn="ctr" fontAlgn="base">
                  <a:buNone/>
                </a:pPr>
                <a14:m>
                  <m:oMathPara xmlns:m="http://schemas.openxmlformats.org/officeDocument/2006/math">
                    <m:oMathParaPr>
                      <m:jc m:val="centerGroup"/>
                    </m:oMathParaPr>
                    <m:oMath xmlns:m="http://schemas.openxmlformats.org/officeDocument/2006/math">
                      <m:r>
                        <a:rPr lang="en-US" sz="1800" b="1" i="1" smtClean="0">
                          <a:latin typeface="Cambria Math"/>
                          <a:ea typeface="Tahoma" pitchFamily="34" charset="0"/>
                          <a:cs typeface="Tahoma" pitchFamily="34" charset="0"/>
                        </a:rPr>
                        <m:t>𝟏𝟔𝟎</m:t>
                      </m:r>
                      <m:r>
                        <a:rPr lang="en-US" sz="1800" b="1" i="1" smtClean="0">
                          <a:latin typeface="Cambria Math"/>
                          <a:ea typeface="Tahoma" pitchFamily="34" charset="0"/>
                          <a:cs typeface="Tahoma" pitchFamily="34" charset="0"/>
                        </a:rPr>
                        <m:t>=</m:t>
                      </m:r>
                      <m:r>
                        <a:rPr lang="en-US" sz="1800" b="1" i="1" smtClean="0">
                          <a:latin typeface="Cambria Math"/>
                          <a:ea typeface="Tahoma" pitchFamily="34" charset="0"/>
                          <a:cs typeface="Tahoma" pitchFamily="34" charset="0"/>
                        </a:rPr>
                        <m:t>𝟐𝟎</m:t>
                      </m:r>
                      <m:r>
                        <a:rPr lang="en-US" sz="1800" b="1" i="1" smtClean="0">
                          <a:latin typeface="Cambria Math"/>
                          <a:ea typeface="Tahoma" pitchFamily="34" charset="0"/>
                          <a:cs typeface="Tahoma" pitchFamily="34" charset="0"/>
                        </a:rPr>
                        <m:t>𝑸</m:t>
                      </m:r>
                    </m:oMath>
                  </m:oMathPara>
                </a14:m>
                <a:endParaRPr lang="en-US" sz="1800" b="1" dirty="0" smtClean="0">
                  <a:latin typeface="Tahoma" pitchFamily="34" charset="0"/>
                  <a:ea typeface="Tahoma" pitchFamily="34" charset="0"/>
                  <a:cs typeface="Tahoma" pitchFamily="34" charset="0"/>
                </a:endParaRPr>
              </a:p>
              <a:p>
                <a:pPr marL="109728" indent="0" algn="ctr" fontAlgn="base">
                  <a:buNone/>
                </a:pPr>
                <a14:m>
                  <m:oMathPara xmlns:m="http://schemas.openxmlformats.org/officeDocument/2006/math">
                    <m:oMathParaPr>
                      <m:jc m:val="centerGroup"/>
                    </m:oMathParaPr>
                    <m:oMath xmlns:m="http://schemas.openxmlformats.org/officeDocument/2006/math">
                      <m:r>
                        <a:rPr lang="en-US" sz="1800" b="1" i="1" smtClean="0">
                          <a:latin typeface="Cambria Math"/>
                          <a:ea typeface="Tahoma" pitchFamily="34" charset="0"/>
                          <a:cs typeface="Tahoma" pitchFamily="34" charset="0"/>
                        </a:rPr>
                        <m:t>𝑸</m:t>
                      </m:r>
                      <m:r>
                        <a:rPr lang="en-US" sz="1800" b="1" i="1" smtClean="0">
                          <a:latin typeface="Cambria Math"/>
                          <a:ea typeface="Tahoma" pitchFamily="34" charset="0"/>
                          <a:cs typeface="Tahoma" pitchFamily="34" charset="0"/>
                        </a:rPr>
                        <m:t>=</m:t>
                      </m:r>
                      <m:r>
                        <a:rPr lang="en-US" sz="1800" b="1" i="1" smtClean="0">
                          <a:latin typeface="Cambria Math"/>
                          <a:ea typeface="Tahoma" pitchFamily="34" charset="0"/>
                          <a:cs typeface="Tahoma" pitchFamily="34" charset="0"/>
                        </a:rPr>
                        <m:t>𝟖</m:t>
                      </m:r>
                    </m:oMath>
                  </m:oMathPara>
                </a14:m>
                <a:endParaRPr lang="en-US" sz="1800" b="1" dirty="0" smtClean="0">
                  <a:latin typeface="Tahoma" pitchFamily="34" charset="0"/>
                  <a:ea typeface="Tahoma" pitchFamily="34" charset="0"/>
                  <a:cs typeface="Tahoma" pitchFamily="34" charset="0"/>
                </a:endParaRPr>
              </a:p>
              <a:p>
                <a:pPr marL="109728" indent="0" fontAlgn="base">
                  <a:buNone/>
                </a:pPr>
                <a:r>
                  <a:rPr lang="en-US" sz="2800" dirty="0" smtClean="0">
                    <a:latin typeface="Agency FB" pitchFamily="34" charset="0"/>
                    <a:ea typeface="Tahoma" pitchFamily="34" charset="0"/>
                    <a:cs typeface="Tahoma" pitchFamily="34" charset="0"/>
                  </a:rPr>
                  <a:t>At 8 units of output, the profit would either be maximum or minimum, which would be confirmed by second derivative test.</a:t>
                </a:r>
                <a:endParaRPr lang="en-US" sz="2800" dirty="0">
                  <a:latin typeface="Agency FB" pitchFamily="34" charset="0"/>
                  <a:ea typeface="Tahoma" pitchFamily="34" charset="0"/>
                  <a:cs typeface="Tahoma"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2156" r="-1185"/>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Maximization of Profits</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6</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5774450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3208"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20000"/>
              </a:bodyPr>
              <a:lstStyle/>
              <a:p>
                <a:r>
                  <a:rPr lang="en-US" sz="2800" b="1" i="1" u="sng" dirty="0" smtClean="0">
                    <a:latin typeface="Tahoma" pitchFamily="34" charset="0"/>
                    <a:ea typeface="Tahoma" pitchFamily="34" charset="0"/>
                    <a:cs typeface="Tahoma" pitchFamily="34" charset="0"/>
                  </a:rPr>
                  <a:t>Using Second Derivative for Optimization</a:t>
                </a:r>
              </a:p>
              <a:p>
                <a:pPr marL="109728" indent="0">
                  <a:buNone/>
                </a:pPr>
                <a:r>
                  <a:rPr lang="en-US" sz="2800" dirty="0">
                    <a:latin typeface="Agency FB" pitchFamily="34" charset="0"/>
                  </a:rPr>
                  <a:t> For the optimum value, the first derivative being equal to zero is a necessary </a:t>
                </a:r>
                <a:r>
                  <a:rPr lang="en-US" sz="2800" dirty="0" smtClean="0">
                    <a:latin typeface="Agency FB" pitchFamily="34" charset="0"/>
                  </a:rPr>
                  <a:t>condition </a:t>
                </a:r>
                <a:r>
                  <a:rPr lang="en-US" sz="2800" dirty="0">
                    <a:latin typeface="Agency FB" pitchFamily="34" charset="0"/>
                  </a:rPr>
                  <a:t>for maximum or </a:t>
                </a:r>
                <a:r>
                  <a:rPr lang="en-US" sz="2800" dirty="0" smtClean="0">
                    <a:latin typeface="Agency FB" pitchFamily="34" charset="0"/>
                  </a:rPr>
                  <a:t>minimum, but it does not confirm maxima and minima.</a:t>
                </a:r>
              </a:p>
              <a:p>
                <a:pPr marL="109728" indent="0">
                  <a:buNone/>
                </a:pPr>
                <a:r>
                  <a:rPr lang="en-US" sz="2800" dirty="0">
                    <a:latin typeface="Agency FB" pitchFamily="34" charset="0"/>
                  </a:rPr>
                  <a:t>According to the second order condition, for profit </a:t>
                </a:r>
                <a:r>
                  <a:rPr lang="en-US" sz="2800" dirty="0" err="1">
                    <a:latin typeface="Agency FB" pitchFamily="34" charset="0"/>
                  </a:rPr>
                  <a:t>maximisation</a:t>
                </a:r>
                <a:r>
                  <a:rPr lang="en-US" sz="2800" dirty="0">
                    <a:latin typeface="Agency FB" pitchFamily="34" charset="0"/>
                  </a:rPr>
                  <a:t>, the second derivative of the profit function must be negative, that </a:t>
                </a:r>
                <a:r>
                  <a:rPr lang="en-US" sz="2800" dirty="0" smtClean="0">
                    <a:latin typeface="Agency FB" pitchFamily="34" charset="0"/>
                  </a:rPr>
                  <a:t>is:</a:t>
                </a:r>
              </a:p>
              <a:p>
                <a:pPr marL="109728" indent="0" algn="ctr">
                  <a:buNone/>
                </a:pPr>
                <a14:m>
                  <m:oMathPara xmlns:m="http://schemas.openxmlformats.org/officeDocument/2006/math">
                    <m:oMathParaPr>
                      <m:jc m:val="centerGroup"/>
                    </m:oMathParaPr>
                    <m:oMath xmlns:m="http://schemas.openxmlformats.org/officeDocument/2006/math">
                      <m:f>
                        <m:fPr>
                          <m:ctrlPr>
                            <a:rPr lang="en-US" sz="2000" i="1" smtClean="0">
                              <a:latin typeface="Cambria Math"/>
                            </a:rPr>
                          </m:ctrlPr>
                        </m:fPr>
                        <m:num>
                          <m:sSup>
                            <m:sSupPr>
                              <m:ctrlPr>
                                <a:rPr lang="en-US" sz="2000" i="1" smtClean="0">
                                  <a:latin typeface="Cambria Math"/>
                                </a:rPr>
                              </m:ctrlPr>
                            </m:sSupPr>
                            <m:e>
                              <m:r>
                                <a:rPr lang="en-US" sz="2000" b="0" i="1" smtClean="0">
                                  <a:latin typeface="Cambria Math"/>
                                </a:rPr>
                                <m:t>𝑑</m:t>
                              </m:r>
                            </m:e>
                            <m:sup>
                              <m:r>
                                <a:rPr lang="en-US" sz="2000" i="1" smtClean="0">
                                  <a:latin typeface="Cambria Math"/>
                                </a:rPr>
                                <m:t>2</m:t>
                              </m:r>
                            </m:sup>
                          </m:sSup>
                          <m:r>
                            <a:rPr lang="en-US" sz="2000" i="1" smtClean="0">
                              <a:latin typeface="Cambria Math"/>
                              <a:ea typeface="Cambria Math"/>
                            </a:rPr>
                            <m:t>𝜋</m:t>
                          </m:r>
                        </m:num>
                        <m:den>
                          <m:sSup>
                            <m:sSupPr>
                              <m:ctrlPr>
                                <a:rPr lang="en-US" sz="2000" i="1" smtClean="0">
                                  <a:latin typeface="Cambria Math"/>
                                </a:rPr>
                              </m:ctrlPr>
                            </m:sSupPr>
                            <m:e>
                              <m:r>
                                <a:rPr lang="en-US" sz="2000" b="0" i="1" smtClean="0">
                                  <a:latin typeface="Cambria Math"/>
                                </a:rPr>
                                <m:t>𝑑</m:t>
                              </m:r>
                            </m:e>
                            <m:sup>
                              <m:r>
                                <a:rPr lang="en-US" sz="2000" i="1" smtClean="0">
                                  <a:latin typeface="Cambria Math"/>
                                </a:rPr>
                                <m:t>2</m:t>
                              </m:r>
                            </m:sup>
                          </m:sSup>
                          <m:r>
                            <a:rPr lang="en-US" sz="2000" b="0" i="1" smtClean="0">
                              <a:latin typeface="Cambria Math"/>
                            </a:rPr>
                            <m:t>𝑄</m:t>
                          </m:r>
                        </m:den>
                      </m:f>
                      <m:r>
                        <a:rPr lang="en-US" sz="2000" b="0" i="0" smtClean="0">
                          <a:latin typeface="Cambria Math"/>
                        </a:rPr>
                        <m:t>&lt;0</m:t>
                      </m:r>
                    </m:oMath>
                  </m:oMathPara>
                </a14:m>
                <a:endParaRPr lang="en-US" sz="2800" dirty="0" smtClean="0">
                  <a:latin typeface="Agency FB" pitchFamily="34" charset="0"/>
                </a:endParaRPr>
              </a:p>
              <a:p>
                <a:pPr marL="109728" indent="0" algn="ctr">
                  <a:buNone/>
                </a:pPr>
                <a:r>
                  <a:rPr lang="en-US" sz="2000" b="0" i="0" dirty="0" smtClean="0">
                    <a:latin typeface="Cambria Math"/>
                  </a:rPr>
                  <a:t>For given function;</a:t>
                </a:r>
              </a:p>
              <a:p>
                <a:pPr marL="109728" indent="0" algn="ctr">
                  <a:buNone/>
                </a:pPr>
                <a14:m>
                  <m:oMathPara xmlns:m="http://schemas.openxmlformats.org/officeDocument/2006/math">
                    <m:oMathParaPr>
                      <m:jc m:val="centerGroup"/>
                    </m:oMathParaPr>
                    <m:oMath xmlns:m="http://schemas.openxmlformats.org/officeDocument/2006/math">
                      <m:f>
                        <m:fPr>
                          <m:ctrlPr>
                            <a:rPr lang="en-US" sz="2000" i="1" smtClean="0">
                              <a:latin typeface="Cambria Math"/>
                            </a:rPr>
                          </m:ctrlPr>
                        </m:fPr>
                        <m:num>
                          <m:sSup>
                            <m:sSupPr>
                              <m:ctrlPr>
                                <a:rPr lang="en-US" sz="2000" i="1" smtClean="0">
                                  <a:latin typeface="Cambria Math"/>
                                </a:rPr>
                              </m:ctrlPr>
                            </m:sSupPr>
                            <m:e>
                              <m:r>
                                <a:rPr lang="en-US" sz="2000" b="0" i="1" smtClean="0">
                                  <a:latin typeface="Cambria Math"/>
                                </a:rPr>
                                <m:t>𝑑</m:t>
                              </m:r>
                            </m:e>
                            <m:sup>
                              <m:r>
                                <a:rPr lang="en-US" sz="2000" i="1" smtClean="0">
                                  <a:latin typeface="Cambria Math"/>
                                </a:rPr>
                                <m:t>2</m:t>
                              </m:r>
                            </m:sup>
                          </m:sSup>
                          <m:r>
                            <a:rPr lang="en-US" sz="2000" i="1" smtClean="0">
                              <a:latin typeface="Cambria Math"/>
                              <a:ea typeface="Cambria Math"/>
                            </a:rPr>
                            <m:t>𝜋</m:t>
                          </m:r>
                        </m:num>
                        <m:den>
                          <m:sSup>
                            <m:sSupPr>
                              <m:ctrlPr>
                                <a:rPr lang="en-US" sz="2000" i="1" smtClean="0">
                                  <a:latin typeface="Cambria Math"/>
                                </a:rPr>
                              </m:ctrlPr>
                            </m:sSupPr>
                            <m:e>
                              <m:r>
                                <a:rPr lang="en-US" sz="2000" b="0" i="1" smtClean="0">
                                  <a:latin typeface="Cambria Math"/>
                                </a:rPr>
                                <m:t>𝑑</m:t>
                              </m:r>
                            </m:e>
                            <m:sup>
                              <m:r>
                                <a:rPr lang="en-US" sz="2000" i="1" smtClean="0">
                                  <a:latin typeface="Cambria Math"/>
                                </a:rPr>
                                <m:t>2</m:t>
                              </m:r>
                            </m:sup>
                          </m:sSup>
                          <m:r>
                            <a:rPr lang="en-US" sz="2000" b="0" i="1" smtClean="0">
                              <a:latin typeface="Cambria Math"/>
                            </a:rPr>
                            <m:t>𝑄</m:t>
                          </m:r>
                        </m:den>
                      </m:f>
                      <m:r>
                        <a:rPr lang="en-US" sz="2000" b="0" i="0" smtClean="0">
                          <a:latin typeface="Cambria Math"/>
                        </a:rPr>
                        <m:t>=−20</m:t>
                      </m:r>
                    </m:oMath>
                  </m:oMathPara>
                </a14:m>
                <a:endParaRPr lang="en-US" sz="2000" dirty="0" smtClean="0">
                  <a:latin typeface="Agency FB" pitchFamily="34" charset="0"/>
                </a:endParaRPr>
              </a:p>
              <a:p>
                <a:pPr marL="109728" indent="0">
                  <a:buNone/>
                </a:pPr>
                <a:r>
                  <a:rPr lang="en-US" sz="2800" dirty="0" smtClean="0">
                    <a:latin typeface="Agency FB" pitchFamily="34" charset="0"/>
                  </a:rPr>
                  <a:t>So function would have a maxima, and profit will be </a:t>
                </a:r>
                <a:r>
                  <a:rPr lang="en-US" sz="2800" b="1" i="1" u="sng" dirty="0" smtClean="0">
                    <a:latin typeface="Agency FB" pitchFamily="34" charset="0"/>
                  </a:rPr>
                  <a:t>MAXIMUM </a:t>
                </a:r>
                <a:r>
                  <a:rPr lang="en-US" sz="2800" dirty="0" smtClean="0">
                    <a:latin typeface="Agency FB" pitchFamily="34" charset="0"/>
                  </a:rPr>
                  <a:t> for given function at 8 units of output.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2965"/>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Continued…</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7</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7661551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4011"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2057400" y="1981200"/>
            <a:ext cx="4876800" cy="3581399"/>
          </a:xfrm>
        </p:spPr>
      </p:pic>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Graphically</a:t>
            </a:r>
            <a:endParaRPr lang="en-US" i="1" u="sng" dirty="0">
              <a:latin typeface="Tahoma" pitchFamily="34" charset="0"/>
              <a:ea typeface="Tahoma" pitchFamily="34" charset="0"/>
              <a:cs typeface="Tahoma" pitchFamily="34" charset="0"/>
            </a:endParaRPr>
          </a:p>
        </p:txBody>
      </p:sp>
      <p:sp>
        <p:nvSpPr>
          <p:cNvPr id="2" name="Slide Number Placeholder 1"/>
          <p:cNvSpPr>
            <a:spLocks noGrp="1"/>
          </p:cNvSpPr>
          <p:nvPr>
            <p:ph type="sldNum" sz="quarter" idx="12"/>
          </p:nvPr>
        </p:nvSpPr>
        <p:spPr/>
        <p:txBody>
          <a:bodyPr/>
          <a:lstStyle/>
          <a:p>
            <a:fld id="{81DF0707-73A5-4813-A3C2-5B4AAEF6BD4A}" type="slidenum">
              <a:rPr lang="en-US" smtClean="0"/>
              <a:t>8</a:t>
            </a:fld>
            <a:endParaRPr lang="en-US"/>
          </a:p>
        </p:txBody>
      </p:sp>
      <p:pic>
        <p:nvPicPr>
          <p:cNvPr id="6"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3657600" y="5715000"/>
            <a:ext cx="609600" cy="609600"/>
          </a:xfrm>
          <a:prstGeom prst="rect">
            <a:avLst/>
          </a:prstGeom>
        </p:spPr>
      </p:pic>
      <p:pic>
        <p:nvPicPr>
          <p:cNvPr id="7" name="Recorded Sound">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5257800" y="5715000"/>
            <a:ext cx="609600" cy="609600"/>
          </a:xfrm>
          <a:prstGeom prst="rect">
            <a:avLst/>
          </a:prstGeom>
        </p:spPr>
      </p:pic>
    </p:spTree>
    <p:extLst>
      <p:ext uri="{BB962C8B-B14F-4D97-AF65-F5344CB8AC3E}">
        <p14:creationId xmlns:p14="http://schemas.microsoft.com/office/powerpoint/2010/main" val="36821321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6"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9000" fill="hold"/>
                                        <p:tgtEl>
                                          <p:spTgt spid="7"/>
                                        </p:tgtEl>
                                      </p:cBhvr>
                                    </p:cmd>
                                  </p:childTnLst>
                                </p:cTn>
                              </p:par>
                            </p:childTnLst>
                          </p:cTn>
                        </p:par>
                      </p:childTnLst>
                    </p:cTn>
                  </p:par>
                </p:childTnLst>
              </p:cTn>
              <p:nextCondLst>
                <p:cond evt="onClick" delay="0">
                  <p:tgtEl>
                    <p:spTgt spid="7"/>
                  </p:tgtEl>
                </p:cond>
              </p:nextCondLst>
            </p:seq>
            <p:audio>
              <p:cMediaNode vol="80000">
                <p:cTn id="13" fill="hold" display="0">
                  <p:stCondLst>
                    <p:cond delay="indefinite"/>
                  </p:stCondLst>
                  <p:endCondLst>
                    <p:cond evt="onStopAudio" delay="0">
                      <p:tgtEl>
                        <p:sldTgt/>
                      </p:tgtEl>
                    </p:cond>
                  </p:endCondLst>
                </p:cTn>
                <p:tgtEl>
                  <p:spTgt spid="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1981200"/>
            <a:ext cx="4800600" cy="3429000"/>
          </a:xfrm>
        </p:spPr>
      </p:pic>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Continued…</a:t>
            </a:r>
            <a:endParaRPr lang="en-US" i="1" u="sng" dirty="0">
              <a:latin typeface="Tahoma" pitchFamily="34" charset="0"/>
              <a:ea typeface="Tahoma" pitchFamily="34" charset="0"/>
              <a:cs typeface="Tahoma" pitchFamily="34" charset="0"/>
            </a:endParaRPr>
          </a:p>
        </p:txBody>
      </p:sp>
      <p:sp>
        <p:nvSpPr>
          <p:cNvPr id="2" name="Slide Number Placeholder 1"/>
          <p:cNvSpPr>
            <a:spLocks noGrp="1"/>
          </p:cNvSpPr>
          <p:nvPr>
            <p:ph type="sldNum" sz="quarter" idx="12"/>
          </p:nvPr>
        </p:nvSpPr>
        <p:spPr/>
        <p:txBody>
          <a:bodyPr/>
          <a:lstStyle/>
          <a:p>
            <a:fld id="{81DF0707-73A5-4813-A3C2-5B4AAEF6BD4A}" type="slidenum">
              <a:rPr lang="en-US" smtClean="0"/>
              <a:t>9</a:t>
            </a:fld>
            <a:endParaRPr lang="en-US"/>
          </a:p>
        </p:txBody>
      </p:sp>
    </p:spTree>
    <p:extLst>
      <p:ext uri="{BB962C8B-B14F-4D97-AF65-F5344CB8AC3E}">
        <p14:creationId xmlns:p14="http://schemas.microsoft.com/office/powerpoint/2010/main" val="32270916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20000"/>
              </a:bodyPr>
              <a:lstStyle/>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Using First Derivative for </a:t>
                </a:r>
                <a:r>
                  <a:rPr lang="en-US" b="1" i="1" u="sng" dirty="0" err="1" smtClean="0">
                    <a:effectLst>
                      <a:outerShdw blurRad="38100" dist="38100" dir="2700000" algn="tl">
                        <a:srgbClr val="000000">
                          <a:alpha val="43137"/>
                        </a:srgbClr>
                      </a:outerShdw>
                    </a:effectLst>
                    <a:latin typeface="Tahoma" pitchFamily="34" charset="0"/>
                    <a:ea typeface="Tahoma" pitchFamily="34" charset="0"/>
                    <a:cs typeface="Tahoma" pitchFamily="34" charset="0"/>
                  </a:rPr>
                  <a:t>Extrema</a:t>
                </a:r>
                <a:endPar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endParaRPr>
              </a:p>
              <a:p>
                <a:pPr marL="109728" indent="0" fontAlgn="base">
                  <a:buNone/>
                </a:pPr>
                <a:r>
                  <a:rPr lang="en-US" dirty="0">
                    <a:latin typeface="Agency FB" pitchFamily="34" charset="0"/>
                  </a:rPr>
                  <a:t> </a:t>
                </a:r>
                <a:r>
                  <a:rPr lang="en-US" dirty="0" smtClean="0">
                    <a:latin typeface="Agency FB" pitchFamily="34" charset="0"/>
                  </a:rPr>
                  <a:t>Efficiency </a:t>
                </a:r>
                <a:r>
                  <a:rPr lang="en-US" dirty="0">
                    <a:latin typeface="Agency FB" pitchFamily="34" charset="0"/>
                  </a:rPr>
                  <a:t>in the use of resources requires that a firm should produce at the minimum possible cost per unit of output.</a:t>
                </a:r>
              </a:p>
              <a:p>
                <a:pPr marL="109728" indent="0" fontAlgn="base">
                  <a:buNone/>
                </a:pPr>
                <a:r>
                  <a:rPr lang="en-US" b="1" dirty="0">
                    <a:latin typeface="Agency FB" pitchFamily="34" charset="0"/>
                  </a:rPr>
                  <a:t>For example, the following average cost function of a firm is given</a:t>
                </a:r>
                <a:r>
                  <a:rPr lang="en-US" b="1" dirty="0" smtClean="0">
                    <a:latin typeface="Agency FB" pitchFamily="34" charset="0"/>
                  </a:rPr>
                  <a:t>:</a:t>
                </a:r>
              </a:p>
              <a:p>
                <a:pPr marL="109728" indent="0" fontAlgn="base">
                  <a:buNone/>
                </a:pPr>
                <a:r>
                  <a:rPr lang="en-US" b="1" dirty="0" smtClean="0">
                    <a:latin typeface="Agency FB" pitchFamily="34" charset="0"/>
                  </a:rPr>
                  <a:t>For Q= no of units produced</a:t>
                </a:r>
                <a:endParaRPr lang="en-US" dirty="0">
                  <a:latin typeface="Agency FB" pitchFamily="34" charset="0"/>
                </a:endParaRPr>
              </a:p>
              <a:p>
                <a:pPr marL="109728" indent="0" fontAlgn="base">
                  <a:buNone/>
                </a:pPr>
                <a:r>
                  <a:rPr lang="en-US" dirty="0">
                    <a:latin typeface="Agency FB" pitchFamily="34" charset="0"/>
                  </a:rPr>
                  <a:t>AC = 25,000 – 180Q + </a:t>
                </a:r>
                <a:r>
                  <a:rPr lang="en-US" dirty="0" smtClean="0">
                    <a:latin typeface="Agency FB" pitchFamily="34" charset="0"/>
                  </a:rPr>
                  <a:t>0.50Q</a:t>
                </a:r>
                <a:r>
                  <a:rPr lang="en-US" baseline="30000" dirty="0" smtClean="0">
                    <a:latin typeface="Agency FB" pitchFamily="34" charset="0"/>
                  </a:rPr>
                  <a:t>2</a:t>
                </a:r>
              </a:p>
              <a:p>
                <a:pPr marL="109728" indent="0" fontAlgn="base">
                  <a:buNone/>
                </a:pPr>
                <a:r>
                  <a:rPr lang="en-US" dirty="0" smtClean="0">
                    <a:latin typeface="Agency FB" pitchFamily="34" charset="0"/>
                  </a:rPr>
                  <a:t>To minimize the cost per unit of output, the cost function is differentiated,</a:t>
                </a:r>
              </a:p>
              <a:p>
                <a:pPr marL="109728" indent="0" fontAlgn="base">
                  <a:buNone/>
                </a:pPr>
                <a14:m>
                  <m:oMathPara xmlns:m="http://schemas.openxmlformats.org/officeDocument/2006/math">
                    <m:oMathParaPr>
                      <m:jc m:val="centerGroup"/>
                    </m:oMathParaPr>
                    <m:oMath xmlns:m="http://schemas.openxmlformats.org/officeDocument/2006/math">
                      <m:f>
                        <m:fPr>
                          <m:ctrlPr>
                            <a:rPr lang="en-US" sz="1800" i="1" smtClean="0">
                              <a:latin typeface="Cambria Math"/>
                            </a:rPr>
                          </m:ctrlPr>
                        </m:fPr>
                        <m:num>
                          <m:r>
                            <a:rPr lang="en-US" sz="1800" i="1" smtClean="0">
                              <a:latin typeface="Cambria Math"/>
                            </a:rPr>
                            <m:t>𝑑</m:t>
                          </m:r>
                          <m:r>
                            <a:rPr lang="en-US" sz="1800" b="0" i="1" smtClean="0">
                              <a:latin typeface="Cambria Math"/>
                            </a:rPr>
                            <m:t>𝐴𝐶</m:t>
                          </m:r>
                        </m:num>
                        <m:den>
                          <m:r>
                            <a:rPr lang="en-US" sz="1800" i="1" smtClean="0">
                              <a:latin typeface="Cambria Math"/>
                            </a:rPr>
                            <m:t>𝑑</m:t>
                          </m:r>
                          <m:r>
                            <a:rPr lang="en-US" sz="1800" b="0" i="1" smtClean="0">
                              <a:latin typeface="Cambria Math"/>
                            </a:rPr>
                            <m:t>𝑄</m:t>
                          </m:r>
                        </m:den>
                      </m:f>
                      <m:r>
                        <a:rPr lang="en-US" sz="1800" b="0" i="1" smtClean="0">
                          <a:latin typeface="Cambria Math"/>
                        </a:rPr>
                        <m:t>=−180+</m:t>
                      </m:r>
                      <m:r>
                        <a:rPr lang="en-US" sz="1800" b="0" i="1" smtClean="0">
                          <a:latin typeface="Cambria Math"/>
                        </a:rPr>
                        <m:t>𝑄</m:t>
                      </m:r>
                    </m:oMath>
                  </m:oMathPara>
                </a14:m>
                <a:endParaRPr lang="en-US" sz="1800" dirty="0" smtClean="0">
                  <a:latin typeface="Agency FB" pitchFamily="34" charset="0"/>
                </a:endParaRPr>
              </a:p>
              <a:p>
                <a:pPr marL="109728" indent="0" fontAlgn="base">
                  <a:buNone/>
                </a:pPr>
                <a:r>
                  <a:rPr lang="en-US" sz="2800" dirty="0" smtClean="0">
                    <a:latin typeface="Agency FB" pitchFamily="34" charset="0"/>
                  </a:rPr>
                  <a:t>Putting derivative equal to zero for </a:t>
                </a:r>
                <a:r>
                  <a:rPr lang="en-US" sz="2800" dirty="0" err="1" smtClean="0">
                    <a:latin typeface="Agency FB" pitchFamily="34" charset="0"/>
                  </a:rPr>
                  <a:t>extrema</a:t>
                </a:r>
                <a:r>
                  <a:rPr lang="en-US" sz="2800" dirty="0" smtClean="0">
                    <a:latin typeface="Agency FB" pitchFamily="34" charset="0"/>
                  </a:rPr>
                  <a:t>;</a:t>
                </a:r>
              </a:p>
              <a:p>
                <a:pPr marL="109728" indent="0" fontAlgn="base">
                  <a:buNone/>
                </a:pPr>
                <a14:m>
                  <m:oMathPara xmlns:m="http://schemas.openxmlformats.org/officeDocument/2006/math">
                    <m:oMathParaPr>
                      <m:jc m:val="centerGroup"/>
                    </m:oMathParaPr>
                    <m:oMath xmlns:m="http://schemas.openxmlformats.org/officeDocument/2006/math">
                      <m:r>
                        <a:rPr lang="en-US" sz="1900" b="0" i="1" smtClean="0">
                          <a:latin typeface="Cambria Math"/>
                        </a:rPr>
                        <m:t>𝑄</m:t>
                      </m:r>
                      <m:r>
                        <a:rPr lang="en-US" sz="1900" b="0" i="1" smtClean="0">
                          <a:latin typeface="Cambria Math"/>
                        </a:rPr>
                        <m:t>−180=0</m:t>
                      </m:r>
                    </m:oMath>
                  </m:oMathPara>
                </a14:m>
                <a:endParaRPr lang="en-US" sz="1900" b="0" dirty="0" smtClean="0">
                  <a:latin typeface="Agency FB" pitchFamily="34" charset="0"/>
                </a:endParaRPr>
              </a:p>
              <a:p>
                <a:pPr marL="109728" indent="0" fontAlgn="base">
                  <a:buNone/>
                </a:pPr>
                <a14:m>
                  <m:oMathPara xmlns:m="http://schemas.openxmlformats.org/officeDocument/2006/math">
                    <m:oMathParaPr>
                      <m:jc m:val="centerGroup"/>
                    </m:oMathParaPr>
                    <m:oMath xmlns:m="http://schemas.openxmlformats.org/officeDocument/2006/math">
                      <m:r>
                        <a:rPr lang="en-US" sz="1900" b="0" i="1" smtClean="0">
                          <a:latin typeface="Cambria Math"/>
                        </a:rPr>
                        <m:t>𝑄</m:t>
                      </m:r>
                      <m:r>
                        <a:rPr lang="en-US" sz="1900" b="0" i="1" smtClean="0">
                          <a:latin typeface="Cambria Math"/>
                        </a:rPr>
                        <m:t>=180</m:t>
                      </m:r>
                    </m:oMath>
                  </m:oMathPara>
                </a14:m>
                <a:endParaRPr lang="en-US" sz="1900" dirty="0">
                  <a:latin typeface="Agency FB" pitchFamily="34" charset="0"/>
                </a:endParaRPr>
              </a:p>
              <a:p>
                <a:pPr marL="109728" indent="0">
                  <a:buNone/>
                </a:pPr>
                <a:r>
                  <a:rPr lang="en-US" dirty="0" smtClean="0">
                    <a:latin typeface="Agency FB" pitchFamily="34" charset="0"/>
                    <a:ea typeface="Tahoma" pitchFamily="34" charset="0"/>
                    <a:cs typeface="Tahoma" pitchFamily="34" charset="0"/>
                  </a:rPr>
                  <a:t>180 units of output give </a:t>
                </a:r>
                <a:r>
                  <a:rPr lang="en-US" dirty="0" err="1" smtClean="0">
                    <a:latin typeface="Agency FB" pitchFamily="34" charset="0"/>
                    <a:ea typeface="Tahoma" pitchFamily="34" charset="0"/>
                    <a:cs typeface="Tahoma" pitchFamily="34" charset="0"/>
                  </a:rPr>
                  <a:t>extrema</a:t>
                </a:r>
                <a:r>
                  <a:rPr lang="en-US" dirty="0" smtClean="0">
                    <a:latin typeface="Agency FB" pitchFamily="34" charset="0"/>
                    <a:ea typeface="Tahoma" pitchFamily="34" charset="0"/>
                    <a:cs typeface="Tahoma" pitchFamily="34" charset="0"/>
                  </a:rPr>
                  <a:t>.</a:t>
                </a:r>
                <a:endParaRPr lang="en-US" dirty="0">
                  <a:latin typeface="Agency FB" pitchFamily="34" charset="0"/>
                  <a:ea typeface="Tahoma" pitchFamily="34" charset="0"/>
                  <a:cs typeface="Tahoma"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2830"/>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Minimization of Costs</a:t>
            </a:r>
            <a:endParaRPr lang="en-US" i="1" u="sng" dirty="0">
              <a:latin typeface="Tahoma" pitchFamily="34" charset="0"/>
              <a:ea typeface="Tahoma" pitchFamily="34" charset="0"/>
              <a:cs typeface="Tahoma" pitchFamily="34"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9400" y="4000500"/>
            <a:ext cx="1790700" cy="2633382"/>
          </a:xfrm>
          <a:prstGeom prst="rect">
            <a:avLst/>
          </a:prstGeom>
        </p:spPr>
      </p:pic>
      <p:sp>
        <p:nvSpPr>
          <p:cNvPr id="5" name="Slide Number Placeholder 4"/>
          <p:cNvSpPr>
            <a:spLocks noGrp="1"/>
          </p:cNvSpPr>
          <p:nvPr>
            <p:ph type="sldNum" sz="quarter" idx="12"/>
          </p:nvPr>
        </p:nvSpPr>
        <p:spPr/>
        <p:txBody>
          <a:bodyPr/>
          <a:lstStyle/>
          <a:p>
            <a:fld id="{81DF0707-73A5-4813-A3C2-5B4AAEF6BD4A}" type="slidenum">
              <a:rPr lang="en-US" smtClean="0"/>
              <a:t>10</a:t>
            </a:fld>
            <a:endParaRPr lang="en-US"/>
          </a:p>
        </p:txBody>
      </p:sp>
      <p:pic>
        <p:nvPicPr>
          <p:cNvPr id="6"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40009445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5819"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Using Second for Optimization:</a:t>
                </a:r>
                <a:endParaRPr lang="en-US" dirty="0" smtClean="0">
                  <a:latin typeface="Agency FB" pitchFamily="34" charset="0"/>
                  <a:ea typeface="Tahoma" pitchFamily="34" charset="0"/>
                  <a:cs typeface="Tahoma" pitchFamily="34" charset="0"/>
                </a:endParaRPr>
              </a:p>
              <a:p>
                <a:pPr marL="109728" indent="0">
                  <a:buNone/>
                </a:pPr>
                <a:r>
                  <a:rPr lang="en-US" dirty="0" smtClean="0">
                    <a:latin typeface="Agency FB" pitchFamily="34" charset="0"/>
                    <a:ea typeface="Tahoma" pitchFamily="34" charset="0"/>
                    <a:cs typeface="Tahoma" pitchFamily="34" charset="0"/>
                  </a:rPr>
                  <a:t>To confirm Q=180 as a minima, second derivative must be </a:t>
                </a:r>
                <a:r>
                  <a:rPr lang="en-US" b="1" dirty="0" smtClean="0">
                    <a:latin typeface="Agency FB" pitchFamily="34" charset="0"/>
                    <a:ea typeface="Tahoma" pitchFamily="34" charset="0"/>
                    <a:cs typeface="Tahoma" pitchFamily="34" charset="0"/>
                  </a:rPr>
                  <a:t>GREATER THAN</a:t>
                </a:r>
                <a:r>
                  <a:rPr lang="en-US" dirty="0" smtClean="0">
                    <a:latin typeface="Agency FB" pitchFamily="34" charset="0"/>
                    <a:ea typeface="Tahoma" pitchFamily="34" charset="0"/>
                    <a:cs typeface="Tahoma" pitchFamily="34" charset="0"/>
                  </a:rPr>
                  <a:t> </a:t>
                </a:r>
                <a:r>
                  <a:rPr lang="en-US" b="1" dirty="0" smtClean="0">
                    <a:latin typeface="Agency FB" pitchFamily="34" charset="0"/>
                    <a:ea typeface="Tahoma" pitchFamily="34" charset="0"/>
                    <a:cs typeface="Tahoma" pitchFamily="34" charset="0"/>
                  </a:rPr>
                  <a:t>ZERO;</a:t>
                </a:r>
                <a:endParaRPr lang="en-US" dirty="0" smtClean="0">
                  <a:latin typeface="Agency FB" pitchFamily="34" charset="0"/>
                  <a:ea typeface="Tahoma" pitchFamily="34" charset="0"/>
                  <a:cs typeface="Tahoma" pitchFamily="34" charset="0"/>
                </a:endParaRPr>
              </a:p>
              <a:p>
                <a:pPr marL="109728" indent="0">
                  <a:buNone/>
                </a:pPr>
                <a14:m>
                  <m:oMathPara xmlns:m="http://schemas.openxmlformats.org/officeDocument/2006/math">
                    <m:oMathParaPr>
                      <m:jc m:val="centerGroup"/>
                    </m:oMathParaPr>
                    <m:oMath xmlns:m="http://schemas.openxmlformats.org/officeDocument/2006/math">
                      <m:f>
                        <m:fPr>
                          <m:ctrlPr>
                            <a:rPr lang="en-US" sz="1800" i="1" smtClean="0">
                              <a:latin typeface="Cambria Math"/>
                              <a:ea typeface="Tahoma" pitchFamily="34" charset="0"/>
                              <a:cs typeface="Tahoma" pitchFamily="34" charset="0"/>
                            </a:rPr>
                          </m:ctrlPr>
                        </m:fPr>
                        <m:num>
                          <m:sSup>
                            <m:sSupPr>
                              <m:ctrlPr>
                                <a:rPr lang="en-US" sz="1800" i="1" smtClean="0">
                                  <a:latin typeface="Cambria Math"/>
                                  <a:ea typeface="Tahoma" pitchFamily="34" charset="0"/>
                                  <a:cs typeface="Tahoma" pitchFamily="34" charset="0"/>
                                </a:rPr>
                              </m:ctrlPr>
                            </m:sSupPr>
                            <m:e>
                              <m:r>
                                <a:rPr lang="en-US" sz="1800" b="0" i="1" smtClean="0">
                                  <a:latin typeface="Cambria Math"/>
                                  <a:ea typeface="Tahoma" pitchFamily="34" charset="0"/>
                                  <a:cs typeface="Tahoma" pitchFamily="34" charset="0"/>
                                </a:rPr>
                                <m:t>𝑑</m:t>
                              </m:r>
                            </m:e>
                            <m:sup>
                              <m:r>
                                <a:rPr lang="en-US" sz="1800" b="0" i="1" smtClean="0">
                                  <a:latin typeface="Cambria Math"/>
                                  <a:ea typeface="Tahoma" pitchFamily="34" charset="0"/>
                                  <a:cs typeface="Tahoma" pitchFamily="34" charset="0"/>
                                </a:rPr>
                                <m:t>2</m:t>
                              </m:r>
                            </m:sup>
                          </m:sSup>
                          <m:r>
                            <a:rPr lang="en-US" sz="1800" b="0" i="1" smtClean="0">
                              <a:latin typeface="Cambria Math"/>
                              <a:ea typeface="Tahoma" pitchFamily="34" charset="0"/>
                              <a:cs typeface="Tahoma" pitchFamily="34" charset="0"/>
                            </a:rPr>
                            <m:t>𝐴𝐶</m:t>
                          </m:r>
                        </m:num>
                        <m:den>
                          <m:sSup>
                            <m:sSupPr>
                              <m:ctrlPr>
                                <a:rPr lang="en-US" sz="1800" i="1" smtClean="0">
                                  <a:latin typeface="Cambria Math"/>
                                  <a:ea typeface="Tahoma" pitchFamily="34" charset="0"/>
                                  <a:cs typeface="Tahoma" pitchFamily="34" charset="0"/>
                                </a:rPr>
                              </m:ctrlPr>
                            </m:sSupPr>
                            <m:e>
                              <m:r>
                                <a:rPr lang="en-US" sz="1800" b="0" i="1" smtClean="0">
                                  <a:latin typeface="Cambria Math"/>
                                  <a:ea typeface="Tahoma" pitchFamily="34" charset="0"/>
                                  <a:cs typeface="Tahoma" pitchFamily="34" charset="0"/>
                                </a:rPr>
                                <m:t>𝑑</m:t>
                              </m:r>
                            </m:e>
                            <m:sup>
                              <m:r>
                                <a:rPr lang="en-US" sz="1800" b="0" i="1" smtClean="0">
                                  <a:latin typeface="Cambria Math"/>
                                  <a:ea typeface="Tahoma" pitchFamily="34" charset="0"/>
                                  <a:cs typeface="Tahoma" pitchFamily="34" charset="0"/>
                                </a:rPr>
                                <m:t>2</m:t>
                              </m:r>
                            </m:sup>
                          </m:sSup>
                          <m:r>
                            <a:rPr lang="en-US" sz="1800" i="1" smtClean="0">
                              <a:latin typeface="Cambria Math"/>
                              <a:ea typeface="Tahoma" pitchFamily="34" charset="0"/>
                              <a:cs typeface="Tahoma" pitchFamily="34" charset="0"/>
                            </a:rPr>
                            <m:t>𝑥</m:t>
                          </m:r>
                        </m:den>
                      </m:f>
                      <m:r>
                        <a:rPr lang="en-US" sz="1800" b="0" i="1" smtClean="0">
                          <a:latin typeface="Cambria Math"/>
                          <a:ea typeface="Tahoma" pitchFamily="34" charset="0"/>
                          <a:cs typeface="Tahoma" pitchFamily="34" charset="0"/>
                        </a:rPr>
                        <m:t>=1</m:t>
                      </m:r>
                    </m:oMath>
                  </m:oMathPara>
                </a14:m>
                <a:endParaRPr lang="en-US" sz="1800" dirty="0" smtClean="0">
                  <a:latin typeface="Tahoma" pitchFamily="34" charset="0"/>
                  <a:ea typeface="Tahoma" pitchFamily="34" charset="0"/>
                  <a:cs typeface="Tahoma" pitchFamily="34" charset="0"/>
                </a:endParaRPr>
              </a:p>
              <a:p>
                <a:pPr marL="109728" indent="0">
                  <a:buNone/>
                </a:pPr>
                <a:r>
                  <a:rPr lang="en-US" sz="2800" dirty="0" smtClean="0">
                    <a:latin typeface="Agency FB" pitchFamily="34" charset="0"/>
                    <a:ea typeface="Tahoma" pitchFamily="34" charset="0"/>
                    <a:cs typeface="Tahoma" pitchFamily="34" charset="0"/>
                  </a:rPr>
                  <a:t>So;</a:t>
                </a:r>
              </a:p>
              <a:p>
                <a:pPr marL="109728" indent="0">
                  <a:buNone/>
                </a:pPr>
                <a14:m>
                  <m:oMathPara xmlns:m="http://schemas.openxmlformats.org/officeDocument/2006/math">
                    <m:oMathParaPr>
                      <m:jc m:val="centerGroup"/>
                    </m:oMathParaPr>
                    <m:oMath xmlns:m="http://schemas.openxmlformats.org/officeDocument/2006/math">
                      <m:f>
                        <m:fPr>
                          <m:ctrlPr>
                            <a:rPr lang="en-US" sz="1800" i="1" smtClean="0">
                              <a:latin typeface="Cambria Math"/>
                              <a:ea typeface="Tahoma" pitchFamily="34" charset="0"/>
                              <a:cs typeface="Tahoma" pitchFamily="34" charset="0"/>
                            </a:rPr>
                          </m:ctrlPr>
                        </m:fPr>
                        <m:num>
                          <m:sSup>
                            <m:sSupPr>
                              <m:ctrlPr>
                                <a:rPr lang="en-US" sz="1800" i="1" smtClean="0">
                                  <a:latin typeface="Cambria Math"/>
                                  <a:ea typeface="Tahoma" pitchFamily="34" charset="0"/>
                                  <a:cs typeface="Tahoma" pitchFamily="34" charset="0"/>
                                </a:rPr>
                              </m:ctrlPr>
                            </m:sSupPr>
                            <m:e>
                              <m:r>
                                <a:rPr lang="en-US" sz="1800" b="0" i="1" smtClean="0">
                                  <a:latin typeface="Cambria Math"/>
                                  <a:ea typeface="Tahoma" pitchFamily="34" charset="0"/>
                                  <a:cs typeface="Tahoma" pitchFamily="34" charset="0"/>
                                </a:rPr>
                                <m:t>𝑑</m:t>
                              </m:r>
                            </m:e>
                            <m:sup>
                              <m:r>
                                <a:rPr lang="en-US" sz="1800" b="0" i="1" smtClean="0">
                                  <a:latin typeface="Cambria Math"/>
                                  <a:ea typeface="Tahoma" pitchFamily="34" charset="0"/>
                                  <a:cs typeface="Tahoma" pitchFamily="34" charset="0"/>
                                </a:rPr>
                                <m:t>2</m:t>
                              </m:r>
                            </m:sup>
                          </m:sSup>
                          <m:r>
                            <a:rPr lang="en-US" sz="1800" b="0" i="1" smtClean="0">
                              <a:latin typeface="Cambria Math"/>
                              <a:ea typeface="Tahoma" pitchFamily="34" charset="0"/>
                              <a:cs typeface="Tahoma" pitchFamily="34" charset="0"/>
                            </a:rPr>
                            <m:t>𝐴𝐶</m:t>
                          </m:r>
                        </m:num>
                        <m:den>
                          <m:sSup>
                            <m:sSupPr>
                              <m:ctrlPr>
                                <a:rPr lang="en-US" sz="1800" i="1" smtClean="0">
                                  <a:latin typeface="Cambria Math"/>
                                  <a:ea typeface="Tahoma" pitchFamily="34" charset="0"/>
                                  <a:cs typeface="Tahoma" pitchFamily="34" charset="0"/>
                                </a:rPr>
                              </m:ctrlPr>
                            </m:sSupPr>
                            <m:e>
                              <m:r>
                                <a:rPr lang="en-US" sz="1800" b="0" i="1" smtClean="0">
                                  <a:latin typeface="Cambria Math"/>
                                  <a:ea typeface="Tahoma" pitchFamily="34" charset="0"/>
                                  <a:cs typeface="Tahoma" pitchFamily="34" charset="0"/>
                                </a:rPr>
                                <m:t>𝑑</m:t>
                              </m:r>
                            </m:e>
                            <m:sup>
                              <m:r>
                                <a:rPr lang="en-US" sz="1800" b="0" i="1" smtClean="0">
                                  <a:latin typeface="Cambria Math"/>
                                  <a:ea typeface="Tahoma" pitchFamily="34" charset="0"/>
                                  <a:cs typeface="Tahoma" pitchFamily="34" charset="0"/>
                                </a:rPr>
                                <m:t>2</m:t>
                              </m:r>
                            </m:sup>
                          </m:sSup>
                          <m:r>
                            <a:rPr lang="en-US" sz="1800" i="1" smtClean="0">
                              <a:latin typeface="Cambria Math"/>
                              <a:ea typeface="Tahoma" pitchFamily="34" charset="0"/>
                              <a:cs typeface="Tahoma" pitchFamily="34" charset="0"/>
                            </a:rPr>
                            <m:t>𝑥</m:t>
                          </m:r>
                        </m:den>
                      </m:f>
                      <m:r>
                        <a:rPr lang="en-US" sz="1800" b="0" i="1" smtClean="0">
                          <a:latin typeface="Cambria Math"/>
                          <a:ea typeface="Tahoma" pitchFamily="34" charset="0"/>
                          <a:cs typeface="Tahoma" pitchFamily="34" charset="0"/>
                        </a:rPr>
                        <m:t>=1&gt;0</m:t>
                      </m:r>
                    </m:oMath>
                  </m:oMathPara>
                </a14:m>
                <a:endParaRPr lang="en-US" sz="1800" dirty="0" smtClean="0">
                  <a:latin typeface="Agency FB" pitchFamily="34" charset="0"/>
                  <a:ea typeface="Tahoma" pitchFamily="34" charset="0"/>
                  <a:cs typeface="Tahoma" pitchFamily="34" charset="0"/>
                </a:endParaRPr>
              </a:p>
              <a:p>
                <a:pPr marL="109728" indent="0">
                  <a:buNone/>
                </a:pPr>
                <a:r>
                  <a:rPr lang="en-US" sz="2800" dirty="0" smtClean="0">
                    <a:latin typeface="Agency FB" pitchFamily="34" charset="0"/>
                    <a:ea typeface="Tahoma" pitchFamily="34" charset="0"/>
                    <a:cs typeface="Tahoma" pitchFamily="34" charset="0"/>
                  </a:rPr>
                  <a:t>So at Q=180 units of output, Cost will be minimized.</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l="-148" t="-121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Continued…</a:t>
            </a:r>
            <a:endParaRPr lang="en-US" i="1" u="sng" dirty="0">
              <a:latin typeface="Tahoma" pitchFamily="34" charset="0"/>
              <a:ea typeface="Tahoma" pitchFamily="34" charset="0"/>
              <a:cs typeface="Tahoma" pitchFamily="34"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00" y="4876800"/>
            <a:ext cx="3181350" cy="1790700"/>
          </a:xfrm>
          <a:prstGeom prst="rect">
            <a:avLst/>
          </a:prstGeom>
        </p:spPr>
      </p:pic>
      <p:sp>
        <p:nvSpPr>
          <p:cNvPr id="5" name="Slide Number Placeholder 4"/>
          <p:cNvSpPr>
            <a:spLocks noGrp="1"/>
          </p:cNvSpPr>
          <p:nvPr>
            <p:ph type="sldNum" sz="quarter" idx="12"/>
          </p:nvPr>
        </p:nvSpPr>
        <p:spPr/>
        <p:txBody>
          <a:bodyPr/>
          <a:lstStyle/>
          <a:p>
            <a:fld id="{81DF0707-73A5-4813-A3C2-5B4AAEF6BD4A}" type="slidenum">
              <a:rPr lang="en-US" smtClean="0"/>
              <a:t>11</a:t>
            </a:fld>
            <a:endParaRPr lang="en-US"/>
          </a:p>
        </p:txBody>
      </p:sp>
      <p:pic>
        <p:nvPicPr>
          <p:cNvPr id="7"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015970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5484" fill="hold"/>
                                        <p:tgtEl>
                                          <p:spTgt spid="7"/>
                                        </p:tgtEl>
                                      </p:cBhvr>
                                    </p:cmd>
                                  </p:childTnLst>
                                </p:cTn>
                              </p:par>
                            </p:childTnLst>
                          </p:cTn>
                        </p:par>
                      </p:childTnLst>
                    </p:cTn>
                  </p:par>
                </p:childTnLst>
              </p:cTn>
              <p:nextCondLst>
                <p:cond evt="onClick" delay="0">
                  <p:tgtEl>
                    <p:spTgt spid="7"/>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2209800" y="1936945"/>
            <a:ext cx="5181600" cy="3244655"/>
          </a:xfrm>
        </p:spPr>
      </p:pic>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Graphically</a:t>
            </a:r>
            <a:endParaRPr lang="en-US" i="1" u="sng" dirty="0">
              <a:latin typeface="Tahoma" pitchFamily="34" charset="0"/>
              <a:ea typeface="Tahoma" pitchFamily="34" charset="0"/>
              <a:cs typeface="Tahoma" pitchFamily="34" charset="0"/>
            </a:endParaRPr>
          </a:p>
        </p:txBody>
      </p:sp>
      <p:sp>
        <p:nvSpPr>
          <p:cNvPr id="2" name="Slide Number Placeholder 1"/>
          <p:cNvSpPr>
            <a:spLocks noGrp="1"/>
          </p:cNvSpPr>
          <p:nvPr>
            <p:ph type="sldNum" sz="quarter" idx="12"/>
          </p:nvPr>
        </p:nvSpPr>
        <p:spPr/>
        <p:txBody>
          <a:bodyPr/>
          <a:lstStyle/>
          <a:p>
            <a:fld id="{81DF0707-73A5-4813-A3C2-5B4AAEF6BD4A}" type="slidenum">
              <a:rPr lang="en-US" smtClean="0"/>
              <a:t>12</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3276600" y="5514109"/>
            <a:ext cx="609600" cy="609600"/>
          </a:xfrm>
          <a:prstGeom prst="rect">
            <a:avLst/>
          </a:prstGeom>
        </p:spPr>
      </p:pic>
      <p:pic>
        <p:nvPicPr>
          <p:cNvPr id="7" name="Recorded Sound">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5410200" y="5562600"/>
            <a:ext cx="609600" cy="609600"/>
          </a:xfrm>
          <a:prstGeom prst="rect">
            <a:avLst/>
          </a:prstGeom>
        </p:spPr>
      </p:pic>
    </p:spTree>
    <p:extLst>
      <p:ext uri="{BB962C8B-B14F-4D97-AF65-F5344CB8AC3E}">
        <p14:creationId xmlns:p14="http://schemas.microsoft.com/office/powerpoint/2010/main" val="31114394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7428"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5211" fill="hold"/>
                                        <p:tgtEl>
                                          <p:spTgt spid="7"/>
                                        </p:tgtEl>
                                      </p:cBhvr>
                                    </p:cmd>
                                  </p:childTnLst>
                                </p:cTn>
                              </p:par>
                            </p:childTnLst>
                          </p:cTn>
                        </p:par>
                      </p:childTnLst>
                    </p:cTn>
                  </p:par>
                </p:childTnLst>
              </p:cTn>
              <p:nextCondLst>
                <p:cond evt="onClick" delay="0">
                  <p:tgtEl>
                    <p:spTgt spid="7"/>
                  </p:tgtEl>
                </p:cond>
              </p:nextCondLst>
            </p:seq>
            <p:audio>
              <p:cMediaNode vol="80000">
                <p:cTn id="13" fill="hold" display="0">
                  <p:stCondLst>
                    <p:cond delay="indefinite"/>
                  </p:stCondLst>
                  <p:endCondLst>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pPr marL="109728" indent="0">
                  <a:buNone/>
                </a:pPr>
                <a:r>
                  <a:rPr lang="en-US" dirty="0" smtClean="0">
                    <a:latin typeface="Agency FB" pitchFamily="34" charset="0"/>
                  </a:rPr>
                  <a:t>The term Marginal is used when we have to calculate the change of dependent variable with respect to an independent one;</a:t>
                </a:r>
              </a:p>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Calculation of Marginal Cost:</a:t>
                </a:r>
              </a:p>
              <a:p>
                <a:pPr marL="109728" indent="0">
                  <a:buNone/>
                </a:pPr>
                <a:r>
                  <a:rPr lang="en-US" dirty="0" smtClean="0">
                    <a:latin typeface="Agency FB" pitchFamily="34" charset="0"/>
                    <a:ea typeface="Tahoma" pitchFamily="34" charset="0"/>
                    <a:cs typeface="Tahoma" pitchFamily="34" charset="0"/>
                  </a:rPr>
                  <a:t>Marginal Cost is the additional cost of producing one extra unit of output.</a:t>
                </a:r>
              </a:p>
              <a:p>
                <a:pPr marL="109728" indent="0">
                  <a:buNone/>
                </a:pPr>
                <a:r>
                  <a:rPr lang="en-US" dirty="0" smtClean="0">
                    <a:latin typeface="Agency FB" pitchFamily="34" charset="0"/>
                    <a:ea typeface="Tahoma" pitchFamily="34" charset="0"/>
                    <a:cs typeface="Tahoma" pitchFamily="34" charset="0"/>
                  </a:rPr>
                  <a:t>Consider the total cost of production of x-units;</a:t>
                </a:r>
              </a:p>
              <a:p>
                <a:pPr marL="109728" indent="0">
                  <a:buNone/>
                </a:pPr>
                <a14:m>
                  <m:oMathPara xmlns:m="http://schemas.openxmlformats.org/officeDocument/2006/math">
                    <m:oMathParaPr>
                      <m:jc m:val="centerGroup"/>
                    </m:oMathParaPr>
                    <m:oMath xmlns:m="http://schemas.openxmlformats.org/officeDocument/2006/math">
                      <m:r>
                        <a:rPr lang="en-US" sz="1800" b="0" i="1" smtClean="0">
                          <a:latin typeface="Cambria Math"/>
                          <a:ea typeface="Tahoma" pitchFamily="34" charset="0"/>
                          <a:cs typeface="Tahoma" pitchFamily="34" charset="0"/>
                        </a:rPr>
                        <m:t>𝐶</m:t>
                      </m:r>
                      <m:d>
                        <m:dPr>
                          <m:ctrlPr>
                            <a:rPr lang="en-US" sz="1800" b="0" i="1" smtClean="0">
                              <a:latin typeface="Cambria Math"/>
                              <a:ea typeface="Tahoma" pitchFamily="34" charset="0"/>
                              <a:cs typeface="Tahoma" pitchFamily="34" charset="0"/>
                            </a:rPr>
                          </m:ctrlPr>
                        </m:dPr>
                        <m:e>
                          <m:r>
                            <a:rPr lang="en-US" sz="1800" b="0" i="1" smtClean="0">
                              <a:latin typeface="Cambria Math"/>
                              <a:ea typeface="Tahoma" pitchFamily="34" charset="0"/>
                              <a:cs typeface="Tahoma" pitchFamily="34" charset="0"/>
                            </a:rPr>
                            <m:t>𝑥</m:t>
                          </m:r>
                        </m:e>
                      </m:d>
                      <m:r>
                        <a:rPr lang="en-US" sz="1800" b="0" i="1" smtClean="0">
                          <a:latin typeface="Cambria Math"/>
                          <a:ea typeface="Tahoma" pitchFamily="34" charset="0"/>
                          <a:cs typeface="Tahoma" pitchFamily="34" charset="0"/>
                        </a:rPr>
                        <m:t>=</m:t>
                      </m:r>
                      <m:r>
                        <a:rPr lang="en-US" sz="1800" b="0" i="1" smtClean="0">
                          <a:latin typeface="Cambria Math"/>
                          <a:ea typeface="Tahoma" pitchFamily="34" charset="0"/>
                          <a:cs typeface="Tahoma" pitchFamily="34" charset="0"/>
                        </a:rPr>
                        <m:t>𝐹</m:t>
                      </m:r>
                      <m:d>
                        <m:dPr>
                          <m:ctrlPr>
                            <a:rPr lang="en-US" sz="1800" b="0" i="1" smtClean="0">
                              <a:latin typeface="Cambria Math"/>
                              <a:ea typeface="Tahoma" pitchFamily="34" charset="0"/>
                              <a:cs typeface="Tahoma" pitchFamily="34" charset="0"/>
                            </a:rPr>
                          </m:ctrlPr>
                        </m:dPr>
                        <m:e>
                          <m:r>
                            <a:rPr lang="en-US" sz="1800" b="0" i="1" smtClean="0">
                              <a:latin typeface="Cambria Math"/>
                              <a:ea typeface="Tahoma" pitchFamily="34" charset="0"/>
                              <a:cs typeface="Tahoma" pitchFamily="34" charset="0"/>
                            </a:rPr>
                            <m:t>𝑥</m:t>
                          </m:r>
                        </m:e>
                      </m:d>
                      <m:r>
                        <a:rPr lang="en-US" sz="1800" b="0" i="1" smtClean="0">
                          <a:latin typeface="Cambria Math"/>
                          <a:ea typeface="Tahoma" pitchFamily="34" charset="0"/>
                          <a:cs typeface="Tahoma" pitchFamily="34" charset="0"/>
                        </a:rPr>
                        <m:t>+</m:t>
                      </m:r>
                      <m:r>
                        <a:rPr lang="en-US" sz="1800" b="0" i="1" smtClean="0">
                          <a:latin typeface="Cambria Math"/>
                          <a:ea typeface="Tahoma" pitchFamily="34" charset="0"/>
                          <a:cs typeface="Tahoma" pitchFamily="34" charset="0"/>
                        </a:rPr>
                        <m:t>𝑉</m:t>
                      </m:r>
                      <m:r>
                        <a:rPr lang="en-US" sz="1800" b="0" i="1" smtClean="0">
                          <a:latin typeface="Cambria Math"/>
                          <a:ea typeface="Tahoma" pitchFamily="34" charset="0"/>
                          <a:cs typeface="Tahoma" pitchFamily="34" charset="0"/>
                        </a:rPr>
                        <m:t>(</m:t>
                      </m:r>
                      <m:r>
                        <a:rPr lang="en-US" sz="1800" b="0" i="1" smtClean="0">
                          <a:latin typeface="Cambria Math"/>
                          <a:ea typeface="Tahoma" pitchFamily="34" charset="0"/>
                          <a:cs typeface="Tahoma" pitchFamily="34" charset="0"/>
                        </a:rPr>
                        <m:t>𝑥</m:t>
                      </m:r>
                      <m:r>
                        <a:rPr lang="en-US" sz="1800" b="0" i="1" smtClean="0">
                          <a:latin typeface="Cambria Math"/>
                          <a:ea typeface="Tahoma" pitchFamily="34" charset="0"/>
                          <a:cs typeface="Tahoma" pitchFamily="34" charset="0"/>
                        </a:rPr>
                        <m:t>)</m:t>
                      </m:r>
                    </m:oMath>
                  </m:oMathPara>
                </a14:m>
                <a:endParaRPr lang="en-US" sz="1800" dirty="0" smtClean="0">
                  <a:latin typeface="Agency FB" pitchFamily="34" charset="0"/>
                  <a:ea typeface="Tahoma" pitchFamily="34" charset="0"/>
                  <a:cs typeface="Tahoma" pitchFamily="34" charset="0"/>
                </a:endParaRPr>
              </a:p>
              <a:p>
                <a:pPr marL="109728" indent="0">
                  <a:buNone/>
                </a:pPr>
                <a:r>
                  <a:rPr lang="en-US" sz="2000" dirty="0" smtClean="0">
                    <a:latin typeface="Cambria Math" pitchFamily="18" charset="0"/>
                    <a:ea typeface="Cambria Math" pitchFamily="18" charset="0"/>
                    <a:cs typeface="Tahoma" pitchFamily="34" charset="0"/>
                  </a:rPr>
                  <a:t>Where F(x) is the fixed cost, independent of number of produced units.</a:t>
                </a:r>
              </a:p>
              <a:p>
                <a:pPr marL="109728" indent="0">
                  <a:buNone/>
                </a:pPr>
                <a:r>
                  <a:rPr lang="en-US" sz="2000" dirty="0" smtClean="0">
                    <a:latin typeface="Cambria Math" pitchFamily="18" charset="0"/>
                    <a:ea typeface="Cambria Math" pitchFamily="18" charset="0"/>
                    <a:cs typeface="Tahoma" pitchFamily="34" charset="0"/>
                  </a:rPr>
                  <a:t>Where V(x) is the variable cost, depending on number of units of output.</a:t>
                </a:r>
              </a:p>
              <a:p>
                <a:pPr marL="109728" indent="0">
                  <a:buNone/>
                </a:pPr>
                <a:r>
                  <a:rPr lang="en-US" sz="2000" i="1" dirty="0" smtClean="0">
                    <a:latin typeface="Cambria Math" pitchFamily="18" charset="0"/>
                    <a:ea typeface="Cambria Math" pitchFamily="18" charset="0"/>
                    <a:cs typeface="Tahoma" pitchFamily="34" charset="0"/>
                  </a:rPr>
                  <a:t>The Average Cost per Product(AC)= </a:t>
                </a:r>
                <a14:m>
                  <m:oMath xmlns:m="http://schemas.openxmlformats.org/officeDocument/2006/math">
                    <m:f>
                      <m:fPr>
                        <m:ctrlPr>
                          <a:rPr lang="en-US" sz="2400" i="1" smtClean="0">
                            <a:latin typeface="Cambria Math"/>
                            <a:ea typeface="Cambria Math" pitchFamily="18" charset="0"/>
                            <a:cs typeface="Tahoma" pitchFamily="34" charset="0"/>
                          </a:rPr>
                        </m:ctrlPr>
                      </m:fPr>
                      <m:num>
                        <m:r>
                          <a:rPr lang="en-US" sz="2400" b="0" i="1" smtClean="0">
                            <a:latin typeface="Cambria Math"/>
                            <a:ea typeface="Cambria Math" pitchFamily="18" charset="0"/>
                            <a:cs typeface="Tahoma" pitchFamily="34" charset="0"/>
                          </a:rPr>
                          <m:t>𝐶</m:t>
                        </m:r>
                        <m:r>
                          <a:rPr lang="en-US" sz="2400" b="0" i="1" smtClean="0">
                            <a:latin typeface="Cambria Math"/>
                            <a:ea typeface="Cambria Math" pitchFamily="18" charset="0"/>
                            <a:cs typeface="Tahoma" pitchFamily="34" charset="0"/>
                          </a:rPr>
                          <m:t>(</m:t>
                        </m:r>
                        <m:r>
                          <a:rPr lang="en-US" sz="2400" b="0" i="1" smtClean="0">
                            <a:latin typeface="Cambria Math"/>
                            <a:ea typeface="Cambria Math" pitchFamily="18" charset="0"/>
                            <a:cs typeface="Tahoma" pitchFamily="34" charset="0"/>
                          </a:rPr>
                          <m:t>𝑥</m:t>
                        </m:r>
                        <m:r>
                          <a:rPr lang="en-US" sz="2400" b="0" i="1" smtClean="0">
                            <a:latin typeface="Cambria Math"/>
                            <a:ea typeface="Cambria Math" pitchFamily="18" charset="0"/>
                            <a:cs typeface="Tahoma" pitchFamily="34" charset="0"/>
                          </a:rPr>
                          <m:t>)</m:t>
                        </m:r>
                      </m:num>
                      <m:den>
                        <m:r>
                          <a:rPr lang="en-US" sz="2400" b="0" i="1" smtClean="0">
                            <a:latin typeface="Cambria Math"/>
                            <a:ea typeface="Cambria Math" pitchFamily="18" charset="0"/>
                            <a:cs typeface="Tahoma" pitchFamily="34" charset="0"/>
                          </a:rPr>
                          <m:t>𝑥</m:t>
                        </m:r>
                      </m:den>
                    </m:f>
                  </m:oMath>
                </a14:m>
                <a:endParaRPr lang="en-US" sz="2400" i="1" dirty="0" smtClean="0">
                  <a:latin typeface="Cambria Math" pitchFamily="18" charset="0"/>
                  <a:ea typeface="Cambria Math" pitchFamily="18" charset="0"/>
                  <a:cs typeface="Tahoma" pitchFamily="34" charset="0"/>
                </a:endParaRPr>
              </a:p>
              <a:p>
                <a:pPr marL="109728" indent="0">
                  <a:buNone/>
                </a:pPr>
                <a:r>
                  <a:rPr lang="en-US" sz="2000" i="1" dirty="0" smtClean="0">
                    <a:latin typeface="Cambria Math" pitchFamily="18" charset="0"/>
                    <a:ea typeface="Cambria Math" pitchFamily="18" charset="0"/>
                    <a:cs typeface="Tahoma" pitchFamily="34" charset="0"/>
                  </a:rPr>
                  <a:t>The Average Fixed Cost per Product(AFC)= </a:t>
                </a:r>
                <a14:m>
                  <m:oMath xmlns:m="http://schemas.openxmlformats.org/officeDocument/2006/math">
                    <m:f>
                      <m:fPr>
                        <m:ctrlPr>
                          <a:rPr lang="en-US" sz="2400" i="1" smtClean="0">
                            <a:latin typeface="Cambria Math"/>
                            <a:ea typeface="Cambria Math" pitchFamily="18" charset="0"/>
                            <a:cs typeface="Tahoma" pitchFamily="34" charset="0"/>
                          </a:rPr>
                        </m:ctrlPr>
                      </m:fPr>
                      <m:num>
                        <m:r>
                          <a:rPr lang="en-US" sz="2400" b="0" i="1" smtClean="0">
                            <a:latin typeface="Cambria Math"/>
                            <a:ea typeface="Cambria Math" pitchFamily="18" charset="0"/>
                            <a:cs typeface="Tahoma" pitchFamily="34" charset="0"/>
                          </a:rPr>
                          <m:t>𝐹</m:t>
                        </m:r>
                        <m:r>
                          <a:rPr lang="en-US" sz="2400" b="0" i="1" smtClean="0">
                            <a:latin typeface="Cambria Math"/>
                            <a:ea typeface="Cambria Math" pitchFamily="18" charset="0"/>
                            <a:cs typeface="Tahoma" pitchFamily="34" charset="0"/>
                          </a:rPr>
                          <m:t>(</m:t>
                        </m:r>
                        <m:r>
                          <a:rPr lang="en-US" sz="2400" b="0" i="1" smtClean="0">
                            <a:latin typeface="Cambria Math"/>
                            <a:ea typeface="Cambria Math" pitchFamily="18" charset="0"/>
                            <a:cs typeface="Tahoma" pitchFamily="34" charset="0"/>
                          </a:rPr>
                          <m:t>𝑥</m:t>
                        </m:r>
                        <m:r>
                          <a:rPr lang="en-US" sz="2400" b="0" i="1" smtClean="0">
                            <a:latin typeface="Cambria Math"/>
                            <a:ea typeface="Cambria Math" pitchFamily="18" charset="0"/>
                            <a:cs typeface="Tahoma" pitchFamily="34" charset="0"/>
                          </a:rPr>
                          <m:t>)</m:t>
                        </m:r>
                      </m:num>
                      <m:den>
                        <m:r>
                          <a:rPr lang="en-US" sz="2400" b="0" i="1" smtClean="0">
                            <a:latin typeface="Cambria Math"/>
                            <a:ea typeface="Cambria Math" pitchFamily="18" charset="0"/>
                            <a:cs typeface="Tahoma" pitchFamily="34" charset="0"/>
                          </a:rPr>
                          <m:t>𝑥</m:t>
                        </m:r>
                      </m:den>
                    </m:f>
                  </m:oMath>
                </a14:m>
                <a:endParaRPr lang="en-US" sz="2400" i="1" dirty="0" smtClean="0">
                  <a:latin typeface="Cambria Math" pitchFamily="18" charset="0"/>
                  <a:ea typeface="Cambria Math" pitchFamily="18" charset="0"/>
                  <a:cs typeface="Tahoma" pitchFamily="34" charset="0"/>
                </a:endParaRPr>
              </a:p>
              <a:p>
                <a:pPr marL="109728" indent="0">
                  <a:buNone/>
                </a:pPr>
                <a:r>
                  <a:rPr lang="en-US" sz="2000" i="1" dirty="0" smtClean="0">
                    <a:latin typeface="Cambria Math" pitchFamily="18" charset="0"/>
                    <a:ea typeface="Cambria Math" pitchFamily="18" charset="0"/>
                    <a:cs typeface="Tahoma" pitchFamily="34" charset="0"/>
                  </a:rPr>
                  <a:t>The Average Variable Cost per Product(AVC)= </a:t>
                </a:r>
                <a14:m>
                  <m:oMath xmlns:m="http://schemas.openxmlformats.org/officeDocument/2006/math">
                    <m:f>
                      <m:fPr>
                        <m:ctrlPr>
                          <a:rPr lang="en-US" sz="2300" i="1" smtClean="0">
                            <a:latin typeface="Cambria Math"/>
                            <a:ea typeface="Cambria Math" pitchFamily="18" charset="0"/>
                            <a:cs typeface="Tahoma" pitchFamily="34" charset="0"/>
                          </a:rPr>
                        </m:ctrlPr>
                      </m:fPr>
                      <m:num>
                        <m:r>
                          <a:rPr lang="en-US" sz="2300" b="0" i="1" smtClean="0">
                            <a:latin typeface="Cambria Math"/>
                            <a:ea typeface="Cambria Math" pitchFamily="18" charset="0"/>
                            <a:cs typeface="Tahoma" pitchFamily="34" charset="0"/>
                          </a:rPr>
                          <m:t>𝑉</m:t>
                        </m:r>
                        <m:r>
                          <a:rPr lang="en-US" sz="2300" b="0" i="1" smtClean="0">
                            <a:latin typeface="Cambria Math"/>
                            <a:ea typeface="Cambria Math" pitchFamily="18" charset="0"/>
                            <a:cs typeface="Tahoma" pitchFamily="34" charset="0"/>
                          </a:rPr>
                          <m:t>(</m:t>
                        </m:r>
                        <m:r>
                          <a:rPr lang="en-US" sz="2300" b="0" i="1" smtClean="0">
                            <a:latin typeface="Cambria Math"/>
                            <a:ea typeface="Cambria Math" pitchFamily="18" charset="0"/>
                            <a:cs typeface="Tahoma" pitchFamily="34" charset="0"/>
                          </a:rPr>
                          <m:t>𝑥</m:t>
                        </m:r>
                        <m:r>
                          <a:rPr lang="en-US" sz="2300" b="0" i="1" smtClean="0">
                            <a:latin typeface="Cambria Math"/>
                            <a:ea typeface="Cambria Math" pitchFamily="18" charset="0"/>
                            <a:cs typeface="Tahoma" pitchFamily="34" charset="0"/>
                          </a:rPr>
                          <m:t>)</m:t>
                        </m:r>
                      </m:num>
                      <m:den>
                        <m:r>
                          <a:rPr lang="en-US" sz="2300" b="0" i="1" smtClean="0">
                            <a:latin typeface="Cambria Math"/>
                            <a:ea typeface="Cambria Math" pitchFamily="18" charset="0"/>
                            <a:cs typeface="Tahoma" pitchFamily="34" charset="0"/>
                          </a:rPr>
                          <m:t>𝑥</m:t>
                        </m:r>
                      </m:den>
                    </m:f>
                  </m:oMath>
                </a14:m>
                <a:endParaRPr lang="en-US" sz="2300" i="1" dirty="0">
                  <a:latin typeface="Cambria Math" pitchFamily="18" charset="0"/>
                  <a:ea typeface="Cambria Math" pitchFamily="18" charset="0"/>
                  <a:cs typeface="Tahoma"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1887" r="-222"/>
                </a:stretch>
              </a:blipFill>
            </p:spPr>
            <p:txBody>
              <a:bodyPr/>
              <a:lstStyle/>
              <a:p>
                <a:r>
                  <a:rPr lang="en-US">
                    <a:noFill/>
                  </a:rPr>
                  <a:t> </a:t>
                </a:r>
              </a:p>
            </p:txBody>
          </p:sp>
        </mc:Fallback>
      </mc:AlternateContent>
      <p:sp>
        <p:nvSpPr>
          <p:cNvPr id="3" name="Title 2"/>
          <p:cNvSpPr>
            <a:spLocks noGrp="1"/>
          </p:cNvSpPr>
          <p:nvPr>
            <p:ph type="title"/>
          </p:nvPr>
        </p:nvSpPr>
        <p:spPr/>
        <p:txBody>
          <a:bodyPr>
            <a:normAutofit fontScale="90000"/>
          </a:bodyPr>
          <a:lstStyle/>
          <a:p>
            <a:r>
              <a:rPr lang="en-US" i="1" u="sng" dirty="0" smtClean="0">
                <a:latin typeface="Tahoma" pitchFamily="34" charset="0"/>
                <a:ea typeface="Tahoma" pitchFamily="34" charset="0"/>
                <a:cs typeface="Tahoma" pitchFamily="34" charset="0"/>
              </a:rPr>
              <a:t>Marginal Analysis of Profit, Revenue and Cost</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13</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65065626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5342"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pPr marL="109728" indent="0">
                  <a:buNone/>
                </a:pPr>
                <a:r>
                  <a:rPr lang="en-US" dirty="0" smtClean="0">
                    <a:latin typeface="Agency FB" pitchFamily="34" charset="0"/>
                  </a:rPr>
                  <a:t>The marginal cost would be the change in total cost at an output level of x-units:</a:t>
                </a:r>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𝑀𝑎𝑟𝑔𝑖𝑛𝑎𝑙</m:t>
                      </m:r>
                      <m:r>
                        <a:rPr lang="en-US" sz="2000" b="0" i="1" smtClean="0">
                          <a:latin typeface="Cambria Math"/>
                        </a:rPr>
                        <m:t> </m:t>
                      </m:r>
                      <m:r>
                        <a:rPr lang="en-US" sz="2000" b="0" i="1" smtClean="0">
                          <a:latin typeface="Cambria Math"/>
                        </a:rPr>
                        <m:t>𝐶𝑜𝑠𝑡</m:t>
                      </m:r>
                      <m:r>
                        <a:rPr lang="en-US" sz="2000" b="0" i="1" smtClean="0">
                          <a:latin typeface="Cambria Math"/>
                        </a:rPr>
                        <m:t>=</m:t>
                      </m:r>
                      <m:f>
                        <m:fPr>
                          <m:ctrlPr>
                            <a:rPr lang="en-US" sz="2000" b="0" i="1" smtClean="0">
                              <a:latin typeface="Cambria Math"/>
                            </a:rPr>
                          </m:ctrlPr>
                        </m:fPr>
                        <m:num>
                          <m:r>
                            <a:rPr lang="en-US" sz="2000" b="0" i="1" smtClean="0">
                              <a:latin typeface="Cambria Math"/>
                            </a:rPr>
                            <m:t>𝑑𝐶</m:t>
                          </m:r>
                          <m:r>
                            <a:rPr lang="en-US" sz="2000" b="0" i="1" smtClean="0">
                              <a:latin typeface="Cambria Math"/>
                            </a:rPr>
                            <m:t>(</m:t>
                          </m:r>
                          <m:r>
                            <a:rPr lang="en-US" sz="2000" b="0" i="1" smtClean="0">
                              <a:latin typeface="Cambria Math"/>
                            </a:rPr>
                            <m:t>𝑥</m:t>
                          </m:r>
                          <m:r>
                            <a:rPr lang="en-US" sz="2000" b="0" i="1" smtClean="0">
                              <a:latin typeface="Cambria Math"/>
                            </a:rPr>
                            <m:t>)</m:t>
                          </m:r>
                        </m:num>
                        <m:den>
                          <m:r>
                            <a:rPr lang="en-US" sz="2000" b="0" i="1" smtClean="0">
                              <a:latin typeface="Cambria Math"/>
                            </a:rPr>
                            <m:t>𝑑𝑥</m:t>
                          </m:r>
                        </m:den>
                      </m:f>
                    </m:oMath>
                  </m:oMathPara>
                </a14:m>
                <a:endParaRPr lang="en-US" sz="2000" dirty="0" smtClean="0">
                  <a:latin typeface="Agency FB" pitchFamily="34" charset="0"/>
                </a:endParaRPr>
              </a:p>
              <a:p>
                <a:pPr marL="109728" indent="0">
                  <a:buNone/>
                </a:pPr>
                <a:r>
                  <a:rPr lang="en-US" dirty="0" smtClean="0">
                    <a:latin typeface="Agency FB" pitchFamily="34" charset="0"/>
                  </a:rPr>
                  <a:t>The marginal average costs can also be ca</a:t>
                </a:r>
                <a:r>
                  <a:rPr lang="en-US" sz="2000" dirty="0" smtClean="0"/>
                  <a:t>l</a:t>
                </a:r>
                <a:r>
                  <a:rPr lang="en-US" dirty="0" smtClean="0">
                    <a:latin typeface="Agency FB" pitchFamily="34" charset="0"/>
                  </a:rPr>
                  <a:t>culated as  </a:t>
                </a:r>
                <a14:m>
                  <m:oMath xmlns:m="http://schemas.openxmlformats.org/officeDocument/2006/math">
                    <m:f>
                      <m:fPr>
                        <m:ctrlPr>
                          <a:rPr lang="en-US" i="1" smtClean="0">
                            <a:latin typeface="Cambria Math"/>
                          </a:rPr>
                        </m:ctrlPr>
                      </m:fPr>
                      <m:num>
                        <m:r>
                          <a:rPr lang="en-US" i="1" smtClean="0">
                            <a:latin typeface="Cambria Math"/>
                          </a:rPr>
                          <m:t>𝑑</m:t>
                        </m:r>
                        <m:r>
                          <a:rPr lang="en-US" b="0" i="1" smtClean="0">
                            <a:latin typeface="Cambria Math"/>
                          </a:rPr>
                          <m:t>𝐴𝐶</m:t>
                        </m:r>
                        <m:r>
                          <a:rPr lang="en-US" b="0" i="1" smtClean="0">
                            <a:latin typeface="Cambria Math"/>
                          </a:rPr>
                          <m:t>(</m:t>
                        </m:r>
                        <m:r>
                          <a:rPr lang="en-US" b="0" i="1" smtClean="0">
                            <a:latin typeface="Cambria Math"/>
                          </a:rPr>
                          <m:t>𝑥</m:t>
                        </m:r>
                        <m:r>
                          <a:rPr lang="en-US" b="0" i="1" smtClean="0">
                            <a:latin typeface="Cambria Math"/>
                          </a:rPr>
                          <m:t>)</m:t>
                        </m:r>
                      </m:num>
                      <m:den>
                        <m:r>
                          <a:rPr lang="en-US" i="1" smtClean="0">
                            <a:latin typeface="Cambria Math"/>
                          </a:rPr>
                          <m:t>𝑑𝑥</m:t>
                        </m:r>
                      </m:den>
                    </m:f>
                    <m:r>
                      <a:rPr lang="en-US" b="0" i="0" smtClean="0">
                        <a:latin typeface="Cambria Math"/>
                      </a:rPr>
                      <m:t> </m:t>
                    </m:r>
                  </m:oMath>
                </a14:m>
                <a:r>
                  <a:rPr lang="en-US" dirty="0" smtClean="0">
                    <a:latin typeface="Agency FB" pitchFamily="34" charset="0"/>
                  </a:rPr>
                  <a:t>and so on</a:t>
                </a:r>
              </a:p>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Calculation of Cost From Marginal Cost:</a:t>
                </a:r>
              </a:p>
              <a:p>
                <a:pPr marL="109728" indent="0">
                  <a:buNone/>
                </a:pPr>
                <a:r>
                  <a:rPr lang="en-US" b="1" dirty="0">
                    <a:effectLst>
                      <a:outerShdw blurRad="38100" dist="38100" dir="2700000" algn="tl">
                        <a:srgbClr val="000000">
                          <a:alpha val="43137"/>
                        </a:srgbClr>
                      </a:outerShdw>
                    </a:effectLst>
                    <a:latin typeface="Tahoma" pitchFamily="34" charset="0"/>
                    <a:ea typeface="Tahoma" pitchFamily="34" charset="0"/>
                    <a:cs typeface="Tahoma" pitchFamily="34" charset="0"/>
                  </a:rPr>
                  <a:t> </a:t>
                </a:r>
                <a:r>
                  <a:rPr lang="en-US" dirty="0" smtClean="0">
                    <a:latin typeface="Agency FB" pitchFamily="34" charset="0"/>
                    <a:ea typeface="Tahoma" pitchFamily="34" charset="0"/>
                    <a:cs typeface="Tahoma" pitchFamily="34" charset="0"/>
                  </a:rPr>
                  <a:t>We can obtain the cost function again from marginal cost, by use of integration;</a:t>
                </a:r>
              </a:p>
              <a:p>
                <a:pPr marL="109728" indent="0">
                  <a:buNone/>
                </a:pPr>
                <a:r>
                  <a:rPr lang="en-US" dirty="0" smtClean="0">
                    <a:latin typeface="Agency FB" pitchFamily="34" charset="0"/>
                    <a:ea typeface="Tahoma" pitchFamily="34" charset="0"/>
                    <a:cs typeface="Tahoma" pitchFamily="34" charset="0"/>
                  </a:rPr>
                  <a:t>As </a:t>
                </a:r>
              </a:p>
              <a:p>
                <a:pPr marL="109728" indent="0">
                  <a:buNone/>
                </a:pPr>
                <a14:m>
                  <m:oMathPara xmlns:m="http://schemas.openxmlformats.org/officeDocument/2006/math">
                    <m:oMathParaPr>
                      <m:jc m:val="centerGroup"/>
                    </m:oMathParaPr>
                    <m:oMath xmlns:m="http://schemas.openxmlformats.org/officeDocument/2006/math">
                      <m:r>
                        <a:rPr lang="en-US" sz="2000" i="1">
                          <a:latin typeface="Cambria Math"/>
                        </a:rPr>
                        <m:t>𝑀𝑎𝑟𝑔𝑖𝑛𝑎𝑙</m:t>
                      </m:r>
                      <m:r>
                        <a:rPr lang="en-US" sz="2000" i="1">
                          <a:latin typeface="Cambria Math"/>
                        </a:rPr>
                        <m:t> </m:t>
                      </m:r>
                      <m:r>
                        <a:rPr lang="en-US" sz="2000" i="1">
                          <a:latin typeface="Cambria Math"/>
                        </a:rPr>
                        <m:t>𝐶𝑜𝑠𝑡</m:t>
                      </m:r>
                      <m:r>
                        <a:rPr lang="en-US" sz="2000" i="1">
                          <a:latin typeface="Cambria Math"/>
                        </a:rPr>
                        <m:t>=</m:t>
                      </m:r>
                      <m:f>
                        <m:fPr>
                          <m:ctrlPr>
                            <a:rPr lang="en-US" sz="2000" i="1">
                              <a:latin typeface="Cambria Math"/>
                            </a:rPr>
                          </m:ctrlPr>
                        </m:fPr>
                        <m:num>
                          <m:r>
                            <a:rPr lang="en-US" sz="2000" i="1">
                              <a:latin typeface="Cambria Math"/>
                            </a:rPr>
                            <m:t>𝑑𝐶</m:t>
                          </m:r>
                          <m:r>
                            <a:rPr lang="en-US" sz="2000" i="1">
                              <a:latin typeface="Cambria Math"/>
                            </a:rPr>
                            <m:t>(</m:t>
                          </m:r>
                          <m:r>
                            <a:rPr lang="en-US" sz="2000" i="1">
                              <a:latin typeface="Cambria Math"/>
                            </a:rPr>
                            <m:t>𝑥</m:t>
                          </m:r>
                          <m:r>
                            <a:rPr lang="en-US" sz="2000" i="1">
                              <a:latin typeface="Cambria Math"/>
                            </a:rPr>
                            <m:t>)</m:t>
                          </m:r>
                        </m:num>
                        <m:den>
                          <m:r>
                            <a:rPr lang="en-US" sz="2000" i="1">
                              <a:latin typeface="Cambria Math"/>
                            </a:rPr>
                            <m:t>𝑑𝑥</m:t>
                          </m:r>
                        </m:den>
                      </m:f>
                    </m:oMath>
                  </m:oMathPara>
                </a14:m>
                <a:endParaRPr lang="en-US" sz="2000" dirty="0" smtClean="0">
                  <a:latin typeface="Agency FB" pitchFamily="34" charset="0"/>
                  <a:ea typeface="Tahoma" pitchFamily="34" charset="0"/>
                  <a:cs typeface="Tahoma" pitchFamily="34" charset="0"/>
                </a:endParaRPr>
              </a:p>
              <a:p>
                <a:pPr marL="109728" indent="0" algn="ctr">
                  <a:buNone/>
                </a:pPr>
                <a:r>
                  <a:rPr lang="en-US" sz="2000" dirty="0" smtClean="0">
                    <a:latin typeface="Agency FB" pitchFamily="34" charset="0"/>
                    <a:ea typeface="Tahoma" pitchFamily="34" charset="0"/>
                    <a:cs typeface="Tahoma" pitchFamily="34" charset="0"/>
                    <a:sym typeface="Symbol"/>
                  </a:rPr>
                  <a:t></a:t>
                </a:r>
                <a14:m>
                  <m:oMath xmlns:m="http://schemas.openxmlformats.org/officeDocument/2006/math">
                    <m:r>
                      <a:rPr lang="en-US" sz="2000" b="0" i="1" smtClean="0">
                        <a:latin typeface="Cambria Math"/>
                        <a:ea typeface="Tahoma" pitchFamily="34" charset="0"/>
                        <a:cs typeface="Tahoma" pitchFamily="34" charset="0"/>
                        <a:sym typeface="Symbol"/>
                      </a:rPr>
                      <m:t>𝐶</m:t>
                    </m:r>
                    <m:d>
                      <m:dPr>
                        <m:ctrlPr>
                          <a:rPr lang="en-US" sz="2000" b="0" i="1" smtClean="0">
                            <a:latin typeface="Cambria Math"/>
                            <a:ea typeface="Tahoma" pitchFamily="34" charset="0"/>
                            <a:cs typeface="Tahoma" pitchFamily="34" charset="0"/>
                            <a:sym typeface="Symbol"/>
                          </a:rPr>
                        </m:ctrlPr>
                      </m:dPr>
                      <m:e>
                        <m:r>
                          <a:rPr lang="en-US" sz="2000" b="0" i="1" smtClean="0">
                            <a:latin typeface="Cambria Math"/>
                            <a:ea typeface="Tahoma" pitchFamily="34" charset="0"/>
                            <a:cs typeface="Tahoma" pitchFamily="34" charset="0"/>
                            <a:sym typeface="Symbol"/>
                          </a:rPr>
                          <m:t>𝑥</m:t>
                        </m:r>
                      </m:e>
                    </m:d>
                    <m:r>
                      <a:rPr lang="en-US" sz="2000" b="0" i="1" smtClean="0">
                        <a:latin typeface="Cambria Math"/>
                        <a:ea typeface="Tahoma" pitchFamily="34" charset="0"/>
                        <a:cs typeface="Tahoma" pitchFamily="34" charset="0"/>
                        <a:sym typeface="Symbol"/>
                      </a:rPr>
                      <m:t>=</m:t>
                    </m:r>
                    <m:nary>
                      <m:naryPr>
                        <m:limLoc m:val="undOvr"/>
                        <m:subHide m:val="on"/>
                        <m:supHide m:val="on"/>
                        <m:ctrlPr>
                          <a:rPr lang="en-US" sz="2000" b="0" i="1" smtClean="0">
                            <a:latin typeface="Cambria Math"/>
                            <a:ea typeface="Tahoma" pitchFamily="34" charset="0"/>
                            <a:cs typeface="Tahoma" pitchFamily="34" charset="0"/>
                            <a:sym typeface="Symbol"/>
                          </a:rPr>
                        </m:ctrlPr>
                      </m:naryPr>
                      <m:sub/>
                      <m:sup/>
                      <m:e>
                        <m:d>
                          <m:dPr>
                            <m:ctrlPr>
                              <a:rPr lang="en-US" sz="2000" b="0" i="1" smtClean="0">
                                <a:latin typeface="Cambria Math"/>
                                <a:ea typeface="Tahoma" pitchFamily="34" charset="0"/>
                                <a:cs typeface="Tahoma" pitchFamily="34" charset="0"/>
                                <a:sym typeface="Symbol"/>
                              </a:rPr>
                            </m:ctrlPr>
                          </m:dPr>
                          <m:e>
                            <m:r>
                              <a:rPr lang="en-US" sz="2000" b="0" i="1" smtClean="0">
                                <a:latin typeface="Cambria Math"/>
                                <a:ea typeface="Tahoma" pitchFamily="34" charset="0"/>
                                <a:cs typeface="Tahoma" pitchFamily="34" charset="0"/>
                                <a:sym typeface="Symbol"/>
                              </a:rPr>
                              <m:t>𝑀𝑎𝑟𝑔𝑖𝑛𝑎𝑙</m:t>
                            </m:r>
                            <m:r>
                              <a:rPr lang="en-US" sz="2000" b="0" i="1" smtClean="0">
                                <a:latin typeface="Cambria Math"/>
                                <a:ea typeface="Tahoma" pitchFamily="34" charset="0"/>
                                <a:cs typeface="Tahoma" pitchFamily="34" charset="0"/>
                                <a:sym typeface="Symbol"/>
                              </a:rPr>
                              <m:t> </m:t>
                            </m:r>
                            <m:r>
                              <a:rPr lang="en-US" sz="2000" b="0" i="1" smtClean="0">
                                <a:latin typeface="Cambria Math"/>
                                <a:ea typeface="Tahoma" pitchFamily="34" charset="0"/>
                                <a:cs typeface="Tahoma" pitchFamily="34" charset="0"/>
                                <a:sym typeface="Symbol"/>
                              </a:rPr>
                              <m:t>𝐶𝑜𝑠𝑡</m:t>
                            </m:r>
                          </m:e>
                        </m:d>
                        <m:r>
                          <a:rPr lang="en-US" sz="2000" b="0" i="1" smtClean="0">
                            <a:latin typeface="Cambria Math"/>
                            <a:ea typeface="Tahoma" pitchFamily="34" charset="0"/>
                            <a:cs typeface="Tahoma" pitchFamily="34" charset="0"/>
                            <a:sym typeface="Symbol"/>
                          </a:rPr>
                          <m:t>𝑑𝑥</m:t>
                        </m:r>
                      </m:e>
                    </m:nary>
                  </m:oMath>
                </a14:m>
                <a:endParaRPr lang="en-US" sz="2000" dirty="0" smtClean="0">
                  <a:latin typeface="Agency FB" pitchFamily="34" charset="0"/>
                  <a:ea typeface="Tahoma" pitchFamily="34" charset="0"/>
                  <a:cs typeface="Tahoma" pitchFamily="34" charset="0"/>
                </a:endParaRPr>
              </a:p>
              <a:p>
                <a:pPr marL="109728" indent="0" algn="ctr">
                  <a:buNone/>
                </a:pPr>
                <a:endParaRPr lang="en-US" sz="2000" b="1" dirty="0" smtClean="0">
                  <a:latin typeface="Tahoma" pitchFamily="34" charset="0"/>
                  <a:ea typeface="Tahoma" pitchFamily="34" charset="0"/>
                  <a:cs typeface="Tahoma"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1887" b="-14151"/>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Continued…</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14</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4067094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9815"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Calculation of Marginal Revenue and Marginal Profit:</a:t>
                </a:r>
              </a:p>
              <a:p>
                <a:pPr marL="109728" indent="0">
                  <a:buNone/>
                </a:pPr>
                <a:r>
                  <a:rPr lang="en-US" dirty="0">
                    <a:effectLst>
                      <a:outerShdw blurRad="38100" dist="38100" dir="2700000" algn="tl">
                        <a:srgbClr val="000000">
                          <a:alpha val="43137"/>
                        </a:srgbClr>
                      </a:outerShdw>
                    </a:effectLst>
                    <a:latin typeface="Agency FB" pitchFamily="34" charset="0"/>
                    <a:ea typeface="Tahoma" pitchFamily="34" charset="0"/>
                    <a:cs typeface="Tahoma" pitchFamily="34" charset="0"/>
                  </a:rPr>
                  <a:t> </a:t>
                </a:r>
                <a:r>
                  <a:rPr lang="en-US" dirty="0" smtClean="0">
                    <a:latin typeface="Agency FB" pitchFamily="34" charset="0"/>
                    <a:ea typeface="Tahoma" pitchFamily="34" charset="0"/>
                    <a:cs typeface="Tahoma" pitchFamily="34" charset="0"/>
                  </a:rPr>
                  <a:t>The revenue function R(x), upon selling x-units at a selling price S is:</a:t>
                </a:r>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ea typeface="Tahoma" pitchFamily="34" charset="0"/>
                          <a:cs typeface="Tahoma" pitchFamily="34" charset="0"/>
                        </a:rPr>
                        <m:t>𝑅</m:t>
                      </m:r>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𝑥</m:t>
                          </m:r>
                        </m:e>
                      </m:d>
                      <m:r>
                        <a:rPr lang="en-US" sz="2000" b="0" i="1" smtClean="0">
                          <a:latin typeface="Cambria Math"/>
                          <a:ea typeface="Tahoma" pitchFamily="34" charset="0"/>
                          <a:cs typeface="Tahoma" pitchFamily="34" charset="0"/>
                        </a:rPr>
                        <m:t>=</m:t>
                      </m:r>
                      <m:r>
                        <a:rPr lang="en-US" sz="2000" b="0" i="1" smtClean="0">
                          <a:latin typeface="Cambria Math"/>
                          <a:ea typeface="Tahoma" pitchFamily="34" charset="0"/>
                          <a:cs typeface="Tahoma" pitchFamily="34" charset="0"/>
                        </a:rPr>
                        <m:t>𝑆</m:t>
                      </m:r>
                      <m:r>
                        <a:rPr lang="en-US" sz="2000" b="0" i="1" smtClean="0">
                          <a:latin typeface="Cambria Math"/>
                          <a:ea typeface="Tahoma" pitchFamily="34" charset="0"/>
                          <a:cs typeface="Tahoma" pitchFamily="34" charset="0"/>
                        </a:rPr>
                        <m:t> ×</m:t>
                      </m:r>
                      <m:r>
                        <a:rPr lang="en-US" sz="2000" b="0" i="1" smtClean="0">
                          <a:latin typeface="Cambria Math"/>
                          <a:ea typeface="Cambria Math"/>
                          <a:cs typeface="Tahoma" pitchFamily="34" charset="0"/>
                        </a:rPr>
                        <m:t>𝑥</m:t>
                      </m:r>
                    </m:oMath>
                  </m:oMathPara>
                </a14:m>
                <a:endParaRPr lang="en-US" sz="2000" dirty="0" smtClean="0">
                  <a:latin typeface="Agency FB" pitchFamily="34" charset="0"/>
                  <a:ea typeface="Tahoma" pitchFamily="34" charset="0"/>
                  <a:cs typeface="Tahoma" pitchFamily="34" charset="0"/>
                </a:endParaRPr>
              </a:p>
              <a:p>
                <a:pPr marL="109728" indent="0">
                  <a:buNone/>
                </a:pPr>
                <a:r>
                  <a:rPr lang="en-US" dirty="0" smtClean="0">
                    <a:latin typeface="Agency FB" pitchFamily="34" charset="0"/>
                    <a:ea typeface="Tahoma" pitchFamily="34" charset="0"/>
                    <a:cs typeface="Tahoma" pitchFamily="34" charset="0"/>
                  </a:rPr>
                  <a:t>The profit function P(x) can be written as:</a:t>
                </a:r>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ea typeface="Tahoma" pitchFamily="34" charset="0"/>
                          <a:cs typeface="Tahoma" pitchFamily="34" charset="0"/>
                        </a:rPr>
                        <m:t>𝑃</m:t>
                      </m:r>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𝑥</m:t>
                          </m:r>
                        </m:e>
                      </m:d>
                      <m:r>
                        <a:rPr lang="en-US" sz="2000" b="0" i="1" smtClean="0">
                          <a:latin typeface="Cambria Math"/>
                          <a:ea typeface="Tahoma" pitchFamily="34" charset="0"/>
                          <a:cs typeface="Tahoma" pitchFamily="34" charset="0"/>
                        </a:rPr>
                        <m:t>=</m:t>
                      </m:r>
                      <m:r>
                        <a:rPr lang="en-US" sz="2000" b="0" i="1" smtClean="0">
                          <a:latin typeface="Cambria Math"/>
                          <a:ea typeface="Tahoma" pitchFamily="34" charset="0"/>
                          <a:cs typeface="Tahoma" pitchFamily="34" charset="0"/>
                        </a:rPr>
                        <m:t>𝑅</m:t>
                      </m:r>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𝑥</m:t>
                          </m:r>
                        </m:e>
                      </m:d>
                      <m:r>
                        <a:rPr lang="en-US" sz="2000" b="0" i="1" smtClean="0">
                          <a:latin typeface="Cambria Math"/>
                          <a:ea typeface="Tahoma" pitchFamily="34" charset="0"/>
                          <a:cs typeface="Tahoma" pitchFamily="34" charset="0"/>
                        </a:rPr>
                        <m:t>−</m:t>
                      </m:r>
                      <m:r>
                        <a:rPr lang="en-US" sz="2000" b="0" i="1" smtClean="0">
                          <a:latin typeface="Cambria Math"/>
                          <a:ea typeface="Tahoma" pitchFamily="34" charset="0"/>
                          <a:cs typeface="Tahoma" pitchFamily="34" charset="0"/>
                        </a:rPr>
                        <m:t>𝐶</m:t>
                      </m:r>
                      <m:r>
                        <a:rPr lang="en-US" sz="2000" b="0" i="1" smtClean="0">
                          <a:latin typeface="Cambria Math"/>
                          <a:ea typeface="Tahoma" pitchFamily="34" charset="0"/>
                          <a:cs typeface="Tahoma" pitchFamily="34" charset="0"/>
                        </a:rPr>
                        <m:t>(</m:t>
                      </m:r>
                      <m:r>
                        <a:rPr lang="en-US" sz="2000" b="0" i="1" smtClean="0">
                          <a:latin typeface="Cambria Math"/>
                          <a:ea typeface="Tahoma" pitchFamily="34" charset="0"/>
                          <a:cs typeface="Tahoma" pitchFamily="34" charset="0"/>
                        </a:rPr>
                        <m:t>𝑥</m:t>
                      </m:r>
                      <m:r>
                        <a:rPr lang="en-US" sz="2000" b="0" i="1" smtClean="0">
                          <a:latin typeface="Cambria Math"/>
                          <a:ea typeface="Tahoma" pitchFamily="34" charset="0"/>
                          <a:cs typeface="Tahoma" pitchFamily="34" charset="0"/>
                        </a:rPr>
                        <m:t>)</m:t>
                      </m:r>
                    </m:oMath>
                  </m:oMathPara>
                </a14:m>
                <a:endParaRPr lang="en-US" sz="2000" dirty="0" smtClean="0">
                  <a:latin typeface="Agency FB" pitchFamily="34" charset="0"/>
                  <a:ea typeface="Tahoma" pitchFamily="34" charset="0"/>
                  <a:cs typeface="Tahoma" pitchFamily="34" charset="0"/>
                </a:endParaRPr>
              </a:p>
              <a:p>
                <a:pPr marL="109728" indent="0">
                  <a:buNone/>
                </a:pPr>
                <a:r>
                  <a:rPr lang="en-US" dirty="0" smtClean="0">
                    <a:latin typeface="Agency FB" pitchFamily="34" charset="0"/>
                    <a:ea typeface="Tahoma" pitchFamily="34" charset="0"/>
                    <a:cs typeface="Tahoma" pitchFamily="34" charset="0"/>
                  </a:rPr>
                  <a:t>Where C(x) is total production cost for x-units.</a:t>
                </a:r>
              </a:p>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Calculation of Marginal Revenue:</a:t>
                </a:r>
              </a:p>
              <a:p>
                <a:pPr marL="109728" indent="0">
                  <a:buNone/>
                </a:pPr>
                <a:r>
                  <a:rPr lang="en-US" dirty="0" smtClean="0">
                    <a:latin typeface="Agency FB" pitchFamily="34" charset="0"/>
                    <a:ea typeface="Tahoma" pitchFamily="34" charset="0"/>
                    <a:cs typeface="Tahoma" pitchFamily="34" charset="0"/>
                  </a:rPr>
                  <a:t>The rate of change of revenue per unit change in output is called Marginal Revenue.</a:t>
                </a:r>
              </a:p>
              <a:p>
                <a:pPr marL="109728" indent="0">
                  <a:buNone/>
                </a:pPr>
                <a14:m>
                  <m:oMathPara xmlns:m="http://schemas.openxmlformats.org/officeDocument/2006/math">
                    <m:oMathParaPr>
                      <m:jc m:val="centerGroup"/>
                    </m:oMathParaPr>
                    <m:oMath xmlns:m="http://schemas.openxmlformats.org/officeDocument/2006/math">
                      <m:r>
                        <a:rPr lang="en-US" sz="2200" b="0" i="1" smtClean="0">
                          <a:latin typeface="Cambria Math"/>
                          <a:ea typeface="Tahoma" pitchFamily="34" charset="0"/>
                          <a:cs typeface="Tahoma" pitchFamily="34" charset="0"/>
                        </a:rPr>
                        <m:t>𝑀𝑎𝑟𝑔𝑖𝑛𝑎𝑙</m:t>
                      </m:r>
                      <m:r>
                        <a:rPr lang="en-US" sz="2200" b="0" i="1" smtClean="0">
                          <a:latin typeface="Cambria Math"/>
                          <a:ea typeface="Tahoma" pitchFamily="34" charset="0"/>
                          <a:cs typeface="Tahoma" pitchFamily="34" charset="0"/>
                        </a:rPr>
                        <m:t> </m:t>
                      </m:r>
                      <m:r>
                        <a:rPr lang="en-US" sz="2200" b="0" i="1" smtClean="0">
                          <a:latin typeface="Cambria Math"/>
                          <a:ea typeface="Tahoma" pitchFamily="34" charset="0"/>
                          <a:cs typeface="Tahoma" pitchFamily="34" charset="0"/>
                        </a:rPr>
                        <m:t>𝑅𝑒𝑣𝑒𝑛𝑢𝑒</m:t>
                      </m:r>
                      <m:r>
                        <a:rPr lang="en-US" sz="2200" b="0" i="1" smtClean="0">
                          <a:latin typeface="Cambria Math"/>
                          <a:ea typeface="Tahoma" pitchFamily="34" charset="0"/>
                          <a:cs typeface="Tahoma" pitchFamily="34" charset="0"/>
                        </a:rPr>
                        <m:t>= </m:t>
                      </m:r>
                      <m:f>
                        <m:fPr>
                          <m:ctrlPr>
                            <a:rPr lang="en-US" sz="2200" b="0" i="1" smtClean="0">
                              <a:latin typeface="Cambria Math"/>
                              <a:ea typeface="Tahoma" pitchFamily="34" charset="0"/>
                              <a:cs typeface="Tahoma" pitchFamily="34" charset="0"/>
                            </a:rPr>
                          </m:ctrlPr>
                        </m:fPr>
                        <m:num>
                          <m:r>
                            <a:rPr lang="en-US" sz="2200" b="0" i="1" smtClean="0">
                              <a:latin typeface="Cambria Math"/>
                              <a:ea typeface="Tahoma" pitchFamily="34" charset="0"/>
                              <a:cs typeface="Tahoma" pitchFamily="34" charset="0"/>
                            </a:rPr>
                            <m:t>𝑑𝑅</m:t>
                          </m:r>
                          <m:r>
                            <a:rPr lang="en-US" sz="2200" b="0" i="1" smtClean="0">
                              <a:latin typeface="Cambria Math"/>
                              <a:ea typeface="Tahoma" pitchFamily="34" charset="0"/>
                              <a:cs typeface="Tahoma" pitchFamily="34" charset="0"/>
                            </a:rPr>
                            <m:t>(</m:t>
                          </m:r>
                          <m:r>
                            <a:rPr lang="en-US" sz="2200" b="0" i="1" smtClean="0">
                              <a:latin typeface="Cambria Math"/>
                              <a:ea typeface="Tahoma" pitchFamily="34" charset="0"/>
                              <a:cs typeface="Tahoma" pitchFamily="34" charset="0"/>
                            </a:rPr>
                            <m:t>𝑥</m:t>
                          </m:r>
                          <m:r>
                            <a:rPr lang="en-US" sz="2200" b="0" i="1" smtClean="0">
                              <a:latin typeface="Cambria Math"/>
                              <a:ea typeface="Tahoma" pitchFamily="34" charset="0"/>
                              <a:cs typeface="Tahoma" pitchFamily="34" charset="0"/>
                            </a:rPr>
                            <m:t>)</m:t>
                          </m:r>
                        </m:num>
                        <m:den>
                          <m:r>
                            <a:rPr lang="en-US" sz="2200" b="0" i="1" smtClean="0">
                              <a:latin typeface="Cambria Math"/>
                              <a:ea typeface="Tahoma" pitchFamily="34" charset="0"/>
                              <a:cs typeface="Tahoma" pitchFamily="34" charset="0"/>
                            </a:rPr>
                            <m:t>𝑑𝑥</m:t>
                          </m:r>
                        </m:den>
                      </m:f>
                    </m:oMath>
                  </m:oMathPara>
                </a14:m>
                <a:endParaRPr lang="en-US" sz="2200" dirty="0" smtClean="0">
                  <a:latin typeface="Agency FB" pitchFamily="34" charset="0"/>
                  <a:ea typeface="Tahoma" pitchFamily="34" charset="0"/>
                  <a:cs typeface="Tahoma" pitchFamily="34" charset="0"/>
                </a:endParaRPr>
              </a:p>
              <a:p>
                <a:pPr marL="109728" indent="0">
                  <a:buNone/>
                </a:pPr>
                <a:endParaRPr lang="en-US" dirty="0">
                  <a:latin typeface="Tahoma" pitchFamily="34" charset="0"/>
                  <a:ea typeface="Tahoma" pitchFamily="34" charset="0"/>
                  <a:cs typeface="Tahoma"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1887" b="-5930"/>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Profit</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15</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6924926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384"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a:bodyPr>
              <a:lstStyle/>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Calculation of Marginal Profit:</a:t>
                </a:r>
              </a:p>
              <a:p>
                <a:pPr marL="109728" indent="0">
                  <a:buNone/>
                </a:pPr>
                <a:r>
                  <a:rPr lang="en-US" dirty="0">
                    <a:effectLst>
                      <a:outerShdw blurRad="38100" dist="38100" dir="2700000" algn="tl">
                        <a:srgbClr val="000000">
                          <a:alpha val="43137"/>
                        </a:srgbClr>
                      </a:outerShdw>
                    </a:effectLst>
                    <a:latin typeface="Agency FB" pitchFamily="34" charset="0"/>
                    <a:ea typeface="Tahoma" pitchFamily="34" charset="0"/>
                    <a:cs typeface="Tahoma" pitchFamily="34" charset="0"/>
                  </a:rPr>
                  <a:t> </a:t>
                </a:r>
                <a:r>
                  <a:rPr lang="en-US" dirty="0" smtClean="0">
                    <a:latin typeface="Agency FB" pitchFamily="34" charset="0"/>
                    <a:ea typeface="Tahoma" pitchFamily="34" charset="0"/>
                    <a:cs typeface="Tahoma" pitchFamily="34" charset="0"/>
                  </a:rPr>
                  <a:t>The rate of change of profit per unit change in output is called Marginal Profit.</a:t>
                </a:r>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ea typeface="Tahoma" pitchFamily="34" charset="0"/>
                          <a:cs typeface="Tahoma" pitchFamily="34" charset="0"/>
                        </a:rPr>
                        <m:t>𝑀𝑎𝑟𝑔𝑖𝑛𝑎𝑙</m:t>
                      </m:r>
                      <m:r>
                        <a:rPr lang="en-US" sz="2000" b="0" i="1" smtClean="0">
                          <a:latin typeface="Cambria Math"/>
                          <a:ea typeface="Tahoma" pitchFamily="34" charset="0"/>
                          <a:cs typeface="Tahoma" pitchFamily="34" charset="0"/>
                        </a:rPr>
                        <m:t> </m:t>
                      </m:r>
                      <m:r>
                        <a:rPr lang="en-US" sz="2000" b="0" i="1" smtClean="0">
                          <a:latin typeface="Cambria Math"/>
                          <a:ea typeface="Tahoma" pitchFamily="34" charset="0"/>
                          <a:cs typeface="Tahoma" pitchFamily="34" charset="0"/>
                        </a:rPr>
                        <m:t>𝑃𝑟𝑜𝑓𝑖𝑡</m:t>
                      </m:r>
                      <m:r>
                        <a:rPr lang="en-US" sz="2000" b="0" i="1" smtClean="0">
                          <a:latin typeface="Cambria Math"/>
                          <a:ea typeface="Tahoma" pitchFamily="34" charset="0"/>
                          <a:cs typeface="Tahoma" pitchFamily="34" charset="0"/>
                        </a:rPr>
                        <m:t>= </m:t>
                      </m:r>
                      <m:f>
                        <m:fPr>
                          <m:ctrlPr>
                            <a:rPr lang="en-US" sz="2000" b="0" i="1" smtClean="0">
                              <a:latin typeface="Cambria Math"/>
                              <a:ea typeface="Tahoma" pitchFamily="34" charset="0"/>
                              <a:cs typeface="Tahoma" pitchFamily="34" charset="0"/>
                            </a:rPr>
                          </m:ctrlPr>
                        </m:fPr>
                        <m:num>
                          <m:r>
                            <a:rPr lang="en-US" sz="2000" b="0" i="1" smtClean="0">
                              <a:latin typeface="Cambria Math"/>
                              <a:ea typeface="Tahoma" pitchFamily="34" charset="0"/>
                              <a:cs typeface="Tahoma" pitchFamily="34" charset="0"/>
                            </a:rPr>
                            <m:t>𝑑𝑃</m:t>
                          </m:r>
                          <m:r>
                            <a:rPr lang="en-US" sz="2000" b="0" i="1" smtClean="0">
                              <a:latin typeface="Cambria Math"/>
                              <a:ea typeface="Tahoma" pitchFamily="34" charset="0"/>
                              <a:cs typeface="Tahoma" pitchFamily="34" charset="0"/>
                            </a:rPr>
                            <m:t>(</m:t>
                          </m:r>
                          <m:r>
                            <a:rPr lang="en-US" sz="2000" b="0" i="1" smtClean="0">
                              <a:latin typeface="Cambria Math"/>
                              <a:ea typeface="Tahoma" pitchFamily="34" charset="0"/>
                              <a:cs typeface="Tahoma" pitchFamily="34" charset="0"/>
                            </a:rPr>
                            <m:t>𝑥</m:t>
                          </m:r>
                          <m:r>
                            <a:rPr lang="en-US" sz="2000" b="0" i="1" smtClean="0">
                              <a:latin typeface="Cambria Math"/>
                              <a:ea typeface="Tahoma" pitchFamily="34" charset="0"/>
                              <a:cs typeface="Tahoma" pitchFamily="34" charset="0"/>
                            </a:rPr>
                            <m:t>)</m:t>
                          </m:r>
                        </m:num>
                        <m:den>
                          <m:r>
                            <a:rPr lang="en-US" sz="2000" b="0" i="1" smtClean="0">
                              <a:latin typeface="Cambria Math"/>
                              <a:ea typeface="Tahoma" pitchFamily="34" charset="0"/>
                              <a:cs typeface="Tahoma" pitchFamily="34" charset="0"/>
                            </a:rPr>
                            <m:t>𝑑𝑥</m:t>
                          </m:r>
                        </m:den>
                      </m:f>
                    </m:oMath>
                  </m:oMathPara>
                </a14:m>
                <a:endParaRPr lang="en-US" sz="2000" dirty="0" smtClean="0">
                  <a:latin typeface="Agency FB" pitchFamily="34" charset="0"/>
                  <a:ea typeface="Tahoma" pitchFamily="34" charset="0"/>
                  <a:cs typeface="Tahoma" pitchFamily="34" charset="0"/>
                </a:endParaRPr>
              </a:p>
              <a:p>
                <a:r>
                  <a:rPr lang="en-US" b="1" i="1" u="sng" dirty="0" smtClean="0">
                    <a:effectLst>
                      <a:outerShdw blurRad="38100" dist="38100" dir="2700000" algn="tl">
                        <a:srgbClr val="000000">
                          <a:alpha val="43137"/>
                        </a:srgbClr>
                      </a:outerShdw>
                    </a:effectLst>
                    <a:latin typeface="Tahoma" pitchFamily="34" charset="0"/>
                    <a:ea typeface="Tahoma" pitchFamily="34" charset="0"/>
                    <a:cs typeface="Tahoma" pitchFamily="34" charset="0"/>
                  </a:rPr>
                  <a:t>Calculation of Revenue and Profit:</a:t>
                </a:r>
              </a:p>
              <a:p>
                <a:pPr marL="109728" indent="0">
                  <a:buNone/>
                </a:pPr>
                <a:r>
                  <a:rPr lang="en-US" dirty="0">
                    <a:effectLst>
                      <a:outerShdw blurRad="38100" dist="38100" dir="2700000" algn="tl">
                        <a:srgbClr val="000000">
                          <a:alpha val="43137"/>
                        </a:srgbClr>
                      </a:outerShdw>
                    </a:effectLst>
                    <a:latin typeface="Tahoma" pitchFamily="34" charset="0"/>
                    <a:ea typeface="Tahoma" pitchFamily="34" charset="0"/>
                    <a:cs typeface="Tahoma" pitchFamily="34" charset="0"/>
                  </a:rPr>
                  <a:t> </a:t>
                </a:r>
                <a:r>
                  <a:rPr lang="en-US" dirty="0" smtClean="0">
                    <a:latin typeface="Agency FB" pitchFamily="34" charset="0"/>
                    <a:ea typeface="Tahoma" pitchFamily="34" charset="0"/>
                    <a:cs typeface="Tahoma" pitchFamily="34" charset="0"/>
                  </a:rPr>
                  <a:t>From Marginal Revenue and Profits, R(x) and P(x) may be calculated by use of indefinite integral.</a:t>
                </a:r>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ea typeface="Tahoma" pitchFamily="34" charset="0"/>
                          <a:cs typeface="Tahoma" pitchFamily="34" charset="0"/>
                        </a:rPr>
                        <m:t>𝑅</m:t>
                      </m:r>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𝑥</m:t>
                          </m:r>
                        </m:e>
                      </m:d>
                      <m:r>
                        <a:rPr lang="en-US" sz="2000" b="0" i="1" smtClean="0">
                          <a:latin typeface="Cambria Math"/>
                          <a:ea typeface="Tahoma" pitchFamily="34" charset="0"/>
                          <a:cs typeface="Tahoma" pitchFamily="34" charset="0"/>
                        </a:rPr>
                        <m:t>= </m:t>
                      </m:r>
                      <m:nary>
                        <m:naryPr>
                          <m:limLoc m:val="undOvr"/>
                          <m:subHide m:val="on"/>
                          <m:supHide m:val="on"/>
                          <m:ctrlPr>
                            <a:rPr lang="en-US" sz="2000" b="0" i="1" smtClean="0">
                              <a:latin typeface="Cambria Math"/>
                              <a:ea typeface="Tahoma" pitchFamily="34" charset="0"/>
                              <a:cs typeface="Tahoma" pitchFamily="34" charset="0"/>
                            </a:rPr>
                          </m:ctrlPr>
                        </m:naryPr>
                        <m:sub/>
                        <m:sup/>
                        <m:e>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𝑀𝑎𝑟𝑔𝑖𝑛𝑎𝑙</m:t>
                              </m:r>
                              <m:r>
                                <a:rPr lang="en-US" sz="2000" b="0" i="1" smtClean="0">
                                  <a:latin typeface="Cambria Math"/>
                                  <a:ea typeface="Tahoma" pitchFamily="34" charset="0"/>
                                  <a:cs typeface="Tahoma" pitchFamily="34" charset="0"/>
                                </a:rPr>
                                <m:t> </m:t>
                              </m:r>
                              <m:r>
                                <a:rPr lang="en-US" sz="2000" b="0" i="1" smtClean="0">
                                  <a:latin typeface="Cambria Math"/>
                                  <a:ea typeface="Tahoma" pitchFamily="34" charset="0"/>
                                  <a:cs typeface="Tahoma" pitchFamily="34" charset="0"/>
                                </a:rPr>
                                <m:t>𝑅𝑒𝑣𝑒𝑛𝑢𝑒</m:t>
                              </m:r>
                            </m:e>
                          </m:d>
                          <m:r>
                            <a:rPr lang="en-US" sz="2000" b="0" i="1" smtClean="0">
                              <a:latin typeface="Cambria Math"/>
                              <a:ea typeface="Tahoma" pitchFamily="34" charset="0"/>
                              <a:cs typeface="Tahoma" pitchFamily="34" charset="0"/>
                            </a:rPr>
                            <m:t>𝑑𝑥</m:t>
                          </m:r>
                        </m:e>
                      </m:nary>
                    </m:oMath>
                  </m:oMathPara>
                </a14:m>
                <a:endParaRPr lang="en-US" sz="2000" dirty="0" smtClean="0">
                  <a:latin typeface="Tahoma" pitchFamily="34" charset="0"/>
                  <a:ea typeface="Tahoma" pitchFamily="34" charset="0"/>
                  <a:cs typeface="Tahoma" pitchFamily="34" charset="0"/>
                </a:endParaRPr>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ea typeface="Tahoma" pitchFamily="34" charset="0"/>
                          <a:cs typeface="Tahoma" pitchFamily="34" charset="0"/>
                        </a:rPr>
                        <m:t>𝑃</m:t>
                      </m:r>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𝑥</m:t>
                          </m:r>
                        </m:e>
                      </m:d>
                      <m:r>
                        <a:rPr lang="en-US" sz="2000" b="0" i="1" smtClean="0">
                          <a:latin typeface="Cambria Math"/>
                          <a:ea typeface="Tahoma" pitchFamily="34" charset="0"/>
                          <a:cs typeface="Tahoma" pitchFamily="34" charset="0"/>
                        </a:rPr>
                        <m:t>= </m:t>
                      </m:r>
                      <m:nary>
                        <m:naryPr>
                          <m:limLoc m:val="undOvr"/>
                          <m:subHide m:val="on"/>
                          <m:supHide m:val="on"/>
                          <m:ctrlPr>
                            <a:rPr lang="en-US" sz="2000" b="0" i="1" smtClean="0">
                              <a:latin typeface="Cambria Math"/>
                              <a:ea typeface="Tahoma" pitchFamily="34" charset="0"/>
                              <a:cs typeface="Tahoma" pitchFamily="34" charset="0"/>
                            </a:rPr>
                          </m:ctrlPr>
                        </m:naryPr>
                        <m:sub/>
                        <m:sup/>
                        <m:e>
                          <m:d>
                            <m:dPr>
                              <m:ctrlPr>
                                <a:rPr lang="en-US" sz="2000" b="0" i="1" smtClean="0">
                                  <a:latin typeface="Cambria Math"/>
                                  <a:ea typeface="Tahoma" pitchFamily="34" charset="0"/>
                                  <a:cs typeface="Tahoma" pitchFamily="34" charset="0"/>
                                </a:rPr>
                              </m:ctrlPr>
                            </m:dPr>
                            <m:e>
                              <m:r>
                                <a:rPr lang="en-US" sz="2000" b="0" i="1" smtClean="0">
                                  <a:latin typeface="Cambria Math"/>
                                  <a:ea typeface="Tahoma" pitchFamily="34" charset="0"/>
                                  <a:cs typeface="Tahoma" pitchFamily="34" charset="0"/>
                                </a:rPr>
                                <m:t>𝑀𝑎𝑟𝑔𝑖𝑛𝑎𝑙</m:t>
                              </m:r>
                              <m:r>
                                <a:rPr lang="en-US" sz="2000" b="0" i="1" smtClean="0">
                                  <a:latin typeface="Cambria Math"/>
                                  <a:ea typeface="Tahoma" pitchFamily="34" charset="0"/>
                                  <a:cs typeface="Tahoma" pitchFamily="34" charset="0"/>
                                </a:rPr>
                                <m:t> </m:t>
                              </m:r>
                              <m:r>
                                <a:rPr lang="en-US" sz="2000" b="0" i="1" smtClean="0">
                                  <a:latin typeface="Cambria Math"/>
                                  <a:ea typeface="Tahoma" pitchFamily="34" charset="0"/>
                                  <a:cs typeface="Tahoma" pitchFamily="34" charset="0"/>
                                </a:rPr>
                                <m:t>𝑃𝑟𝑜𝑓𝑖𝑡</m:t>
                              </m:r>
                            </m:e>
                          </m:d>
                          <m:r>
                            <a:rPr lang="en-US" sz="2000" b="0" i="1" smtClean="0">
                              <a:latin typeface="Cambria Math"/>
                              <a:ea typeface="Tahoma" pitchFamily="34" charset="0"/>
                              <a:cs typeface="Tahoma" pitchFamily="34" charset="0"/>
                            </a:rPr>
                            <m:t>𝑑𝑥</m:t>
                          </m:r>
                        </m:e>
                      </m:nary>
                    </m:oMath>
                  </m:oMathPara>
                </a14:m>
                <a:endParaRPr lang="en-US" sz="2000" dirty="0" smtClean="0">
                  <a:latin typeface="Tahoma" pitchFamily="34" charset="0"/>
                  <a:ea typeface="Tahoma" pitchFamily="34" charset="0"/>
                  <a:cs typeface="Tahoma"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4"/>
                <a:stretch>
                  <a:fillRect t="-1078" r="-889"/>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Continued…</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16</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3370740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973"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143250" y="2720181"/>
            <a:ext cx="2857500" cy="2047875"/>
          </a:xfrm>
        </p:spPr>
      </p:pic>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Graph</a:t>
            </a:r>
            <a:endParaRPr lang="en-US" i="1" u="sng" dirty="0">
              <a:latin typeface="Tahoma" pitchFamily="34" charset="0"/>
              <a:ea typeface="Tahoma" pitchFamily="34" charset="0"/>
              <a:cs typeface="Tahoma" pitchFamily="34" charset="0"/>
            </a:endParaRPr>
          </a:p>
        </p:txBody>
      </p:sp>
      <p:sp>
        <p:nvSpPr>
          <p:cNvPr id="2" name="Slide Number Placeholder 1"/>
          <p:cNvSpPr>
            <a:spLocks noGrp="1"/>
          </p:cNvSpPr>
          <p:nvPr>
            <p:ph type="sldNum" sz="quarter" idx="12"/>
          </p:nvPr>
        </p:nvSpPr>
        <p:spPr/>
        <p:txBody>
          <a:bodyPr/>
          <a:lstStyle/>
          <a:p>
            <a:fld id="{81DF0707-73A5-4813-A3C2-5B4AAEF6BD4A}" type="slidenum">
              <a:rPr lang="en-US" smtClean="0"/>
              <a:t>17</a:t>
            </a:fld>
            <a:endParaRPr lang="en-US"/>
          </a:p>
        </p:txBody>
      </p:sp>
      <p:pic>
        <p:nvPicPr>
          <p:cNvPr id="5"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50803032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883" fill="hold"/>
                                        <p:tgtEl>
                                          <p:spTgt spid="5"/>
                                        </p:tgtEl>
                                      </p:cBhvr>
                                    </p:cmd>
                                  </p:childTnLst>
                                </p:cTn>
                              </p:par>
                            </p:childTnLst>
                          </p:cTn>
                        </p:par>
                      </p:childTnLst>
                    </p:cTn>
                  </p:par>
                </p:childTnLst>
              </p:cTn>
              <p:nextCondLst>
                <p:cond evt="onClick" delay="0">
                  <p:tgtEl>
                    <p:spTgt spid="5"/>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latin typeface="Agency FB" pitchFamily="34" charset="0"/>
              </a:rPr>
              <a:t>Calculus is the most fundamental tool used in business economics.</a:t>
            </a:r>
          </a:p>
          <a:p>
            <a:r>
              <a:rPr lang="en-US" dirty="0" smtClean="0">
                <a:latin typeface="Agency FB" pitchFamily="34" charset="0"/>
              </a:rPr>
              <a:t>The above mentioned applications are utilized in Business Economics.</a:t>
            </a:r>
          </a:p>
          <a:p>
            <a:r>
              <a:rPr lang="en-US" dirty="0" smtClean="0">
                <a:latin typeface="Agency FB" pitchFamily="34" charset="0"/>
              </a:rPr>
              <a:t>The calculation of marginal quantities, combined with the use of </a:t>
            </a:r>
            <a:r>
              <a:rPr lang="en-US" dirty="0" err="1" smtClean="0">
                <a:latin typeface="Agency FB" pitchFamily="34" charset="0"/>
              </a:rPr>
              <a:t>extrema</a:t>
            </a:r>
            <a:r>
              <a:rPr lang="en-US" dirty="0" smtClean="0">
                <a:latin typeface="Agency FB" pitchFamily="34" charset="0"/>
              </a:rPr>
              <a:t> allow us to find the best possible business conditions.</a:t>
            </a:r>
          </a:p>
          <a:p>
            <a:r>
              <a:rPr lang="en-US" dirty="0" smtClean="0">
                <a:latin typeface="Agency FB" pitchFamily="34" charset="0"/>
              </a:rPr>
              <a:t>Thus Calculus allows business owners to manage their business related activities more effectively, allowing greater progress and profits.</a:t>
            </a:r>
            <a:endParaRPr lang="en-US" dirty="0">
              <a:latin typeface="Agency FB" pitchFamily="34" charset="0"/>
            </a:endParaRPr>
          </a:p>
        </p:txBody>
      </p:sp>
      <p:sp>
        <p:nvSpPr>
          <p:cNvPr id="3" name="Title 2"/>
          <p:cNvSpPr>
            <a:spLocks noGrp="1"/>
          </p:cNvSpPr>
          <p:nvPr>
            <p:ph type="title"/>
          </p:nvPr>
        </p:nvSpPr>
        <p:spPr/>
        <p:txBody>
          <a:bodyPr/>
          <a:lstStyle/>
          <a:p>
            <a:r>
              <a:rPr lang="en-US" i="1" u="sng" dirty="0" smtClean="0">
                <a:latin typeface="Tahoma" pitchFamily="34" charset="0"/>
                <a:ea typeface="Tahoma" pitchFamily="34" charset="0"/>
                <a:cs typeface="Tahoma" pitchFamily="34" charset="0"/>
              </a:rPr>
              <a:t>Conclusion</a:t>
            </a:r>
            <a:endParaRPr lang="en-US" i="1" u="sng" dirty="0">
              <a:latin typeface="Tahoma" pitchFamily="34" charset="0"/>
              <a:ea typeface="Tahoma" pitchFamily="34" charset="0"/>
              <a:cs typeface="Tahoma" pitchFamily="34" charset="0"/>
            </a:endParaRPr>
          </a:p>
        </p:txBody>
      </p:sp>
      <p:sp>
        <p:nvSpPr>
          <p:cNvPr id="4" name="Slide Number Placeholder 3"/>
          <p:cNvSpPr>
            <a:spLocks noGrp="1"/>
          </p:cNvSpPr>
          <p:nvPr>
            <p:ph type="sldNum" sz="quarter" idx="12"/>
          </p:nvPr>
        </p:nvSpPr>
        <p:spPr/>
        <p:txBody>
          <a:bodyPr/>
          <a:lstStyle/>
          <a:p>
            <a:fld id="{81DF0707-73A5-4813-A3C2-5B4AAEF6BD4A}" type="slidenum">
              <a:rPr lang="en-US" smtClean="0"/>
              <a:t>18</a:t>
            </a:fld>
            <a:endParaRPr lang="en-US"/>
          </a:p>
        </p:txBody>
      </p:sp>
      <p:pic>
        <p:nvPicPr>
          <p:cNvPr id="7"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23182384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2995" fill="hold"/>
                                        <p:tgtEl>
                                          <p:spTgt spid="7"/>
                                        </p:tgtEl>
                                      </p:cBhvr>
                                    </p:cmd>
                                  </p:childTnLst>
                                </p:cTn>
                              </p:par>
                            </p:childTnLst>
                          </p:cTn>
                        </p:par>
                      </p:childTnLst>
                    </p:cTn>
                  </p:par>
                </p:childTnLst>
              </p:cTn>
              <p:nextCondLst>
                <p:cond evt="onClick" delay="0">
                  <p:tgtEl>
                    <p:spTgt spid="7"/>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449</TotalTime>
  <Words>903</Words>
  <Application>Microsoft Office PowerPoint</Application>
  <PresentationFormat>On-screen Show (4:3)</PresentationFormat>
  <Paragraphs>137</Paragraphs>
  <Slides>18</Slides>
  <Notes>1</Notes>
  <HiddenSlides>0</HiddenSlides>
  <MMClips>19</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Concourse</vt:lpstr>
      <vt:lpstr>Applications of Calculus in BUSINESS ECONOMICS</vt:lpstr>
      <vt:lpstr>What is Calculus?</vt:lpstr>
      <vt:lpstr>Branches of Calculus</vt:lpstr>
      <vt:lpstr>Calculus in Business Economics</vt:lpstr>
      <vt:lpstr>Optimization</vt:lpstr>
      <vt:lpstr>Maximization of Profits</vt:lpstr>
      <vt:lpstr>Continued…</vt:lpstr>
      <vt:lpstr>Graphically</vt:lpstr>
      <vt:lpstr>Continued…</vt:lpstr>
      <vt:lpstr>Minimization of Costs</vt:lpstr>
      <vt:lpstr>Continued…</vt:lpstr>
      <vt:lpstr>Graphically</vt:lpstr>
      <vt:lpstr>Marginal Analysis of Profit, Revenue and Cost</vt:lpstr>
      <vt:lpstr>Continued…</vt:lpstr>
      <vt:lpstr>Profit</vt:lpstr>
      <vt:lpstr>Continued…</vt:lpstr>
      <vt:lpstr>Graph</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Calculus in BUSINESS ECONOMICS</dc:title>
  <dc:creator>touquir</dc:creator>
  <cp:lastModifiedBy>touquir</cp:lastModifiedBy>
  <cp:revision>25</cp:revision>
  <dcterms:created xsi:type="dcterms:W3CDTF">2021-01-17T05:31:04Z</dcterms:created>
  <dcterms:modified xsi:type="dcterms:W3CDTF">2021-02-05T18:36:43Z</dcterms:modified>
</cp:coreProperties>
</file>